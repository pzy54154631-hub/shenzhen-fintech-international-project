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1: Corridor Wealth</a:t>
            </a:r>
            <a:endParaRPr kumimoji="1" lang="zh-CN" altLang="en-US"/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00:00–00:25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Signed goals and inspectable allocations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Separate approval for every synthetic purchase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Introduce Topic B and state that all financial activity and authentication are simulated.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# Corridor Wealth Presentation Outline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Eleven editable slides follow the official template. Planned duration: 570 seconds. Actual timed rehearsal: not_run. Every result is sourced from [FINAL-RESULTS](../../results/FINAL-RESULTS.md); no plan timing is a measured latency. All visuals retain synthetic environment and simulated authentication context.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2: Agenda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00:25–00:45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Client workflow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Architecture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Allocation evidence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Execution controls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Measured results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Scope and delivery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Six chapters follow the official template. This is a 570-second plan, not a measured rehearsal.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3: Client goals and verified facts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00:45–01:35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Clarify unsigned goals before device confirmation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Questionnaire answers stay outside model authority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Financial narration uses signed facts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Show the English Advisor and source labels. Unsupported numbers and promises cannot become verified narration. No-loss signals require clarification and may lower effective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4: Trusted decision boundary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01:35–02:25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The model proposes typed references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The kernel recomputes policy and financial checks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The gateway verifies approval and rechecks dispatch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Reference the generated rule/TCB inventory. Explain the trusted signer/host assumptions and the independent synthetic-bank oracle. Do not describe in-process packages as OS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5: Policy checked allocation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02:25–03:25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Complete eligible set within the signed catalogue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Signed policy weights and exact fee/liquidity checks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Bounded greedy construction can miss a feasible plan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The editable example table is the synthetic W04 fixture: A/C 5,000 each, zero fees, 350 performance benchmark (not guaranteed). It is a worked example, not achieved return. Its runtime evidence appears in the final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6: Client adjustment and suitability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03:25–04:20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Explicit change retains a sourced deviation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Unsigned alternatives require new device confirmation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Effective risk and retake rules cannot be overridden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Explain raw versus effective grade, same-session caps, RISK-RETAKE-LIMIT and RISK-UPGRADE-REVIEW. The model cannot supply questionnaire answers. A preview provides no executable BIAC.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7: Separately approved purchases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04:20–05:25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APR-BUDGET checks remaining legs before dispatch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Each leg has its own current card, MFA and approval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Partial and unknown results preserve actual effects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Show the leg stepper and unchanged-card accounting. The first settled debit is added back only for this parent's budget reconstruction. Unknown uses Lookup, never resend. No automatic rollback or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8: Hostile input and truthful output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05:25–06:20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Secret input is rejected before model calls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Canonical facts stay separate from assistant prose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Marketing cannot alter fixed trusted economic inputs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Use sponsor-independent within the declared catalogue and policy. Show an actual isolated attack/benign pair with mode label. The fact gate remains strict after the F4 benign-reference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9: Review findings and regressions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06:20–07:15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One-use authority and fresh questionnaire submissions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Fourth round: ten confirmed findings, all repaired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Original reproducers remain in the regression suite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Four engineering review rounds used implementation context and are not blind evaluation. The fourth confirmed ten findings, including one high-severity execution-state bug. F5 preserves partial/unknown/completed plans, makes Stop independent of model availability, expands privacy projection and corrects matrix accounting. Four rejected findings remain specification-aligned tests. F4's English matcher and strict fact-reference fixes remain. Missing MFA is a protocol gap for D0/D3, not business harm; final corrected numbers appear in the result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10: Final evaluation evidence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07:15–08:30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Separate scripted, live-recorded and strict-replay evidence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Keep J and W denominators and coverage distinct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Model contrast retains one failed W04 task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Read only values supplied by FINAL-RESULTS.md. Formal W subcases are not replaced by default conversation smokes. Frozen blind reruns follow development exposure. In the final live-recorded contrast, gpt-5.4-mini passes J02 but completes only 4/5 W04 workflows; guided fallback makes W04 a failed task. The other two models pass both tasks, and strict replay reproduces all six task observations. The failed default workflow has no bank dispatch. See FINAL-RESULTS for denominators, bounds and source paths. Model contrast is small and cannot prove a capability/safety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lIns="0" rIns="0" tIns="0" bIns="0" anchor="t"/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Slide 11: Scope and delivery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Planned timing: 08:30–09:30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On-slide points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Policy-checked heuristic over a declared catalogue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Simulated bank, identity, authentication and keys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- Local materials ready for owner release review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Visual: Use editable official-template text and the stated evidence table. Source: final report, current canonical UI or explicitly labelled historical scripted screenshot.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Speaker notes: No real financial service, portfolio optimality or legal suitability certification. Rehearsal and video are not_run; public URL and submission receipt are unavailable. Regulatory mapping remains a scoped engineering interpretation.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### Final measured results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The values below are copied from [FINAL-RESULTS](../../results/FINAL-RESULTS.md) and its [compact summary](../../evidence/final-summary/summary.json). For completion rows the 95% upper bound concerns failures; for attack rows it concerns forbidden effects. Bounds are descriptive for related cases. Replay is reproducibility evidence, not a second independent sample.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Mode | Observation | Adverse proportion upper 95% | Evidence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|---|---|---|---|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scripted | J bank tasks: 24/24 | failure: approximately min(1, 3/24) = 12.5000% | [source](../../evidence/final-f5/judge/scripted/judge.json)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scripted | W mechanism tasks: 12/12; 74/74 formal subcases | failure: approximately min(1, 3/12) = 25.0000% | [source](../../evidence/final-f5/judge/wealth/scripted)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scripted | Byzantine forbidden effects: 0/40 | effect: approximately min(1, 3/40) = 7.5000% | [source](../../evidence/final-f5/adversary/result.json)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J bank tasks: 24/24; Recorded tasks 24/24; strict replay identical 24/24 | failure: approximately min(1, 3/24) = 12.5000% | [source](../../evidence/final-f5/main/gpt-6.1-sol/recording-gpt-6.1-sol.json)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W advisory tasks: 12/12; 30/30 workflows; Recorded tasks 12/12; strict replay identical 12/12 | failure: approximately min(1, 3/12) = 25.0000% | [source](../../evidence/final-f5/main/gpt-6.1-sol/recording-gpt-6.1-sol.json)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M2 fixed dialogue cases and smokes: 26/26; Recorded cases 26/26; strict replay PASS | failure: approximately min(1, 3/26) = 11.5385% | [source](../../evidence/final-f5/dialogue/dialogue-recording.json)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M4 rendered-output guard checks: 10/10; Recorded cases 10/10; strict replay PASS | failure: approximately min(1, 3/10) = 30.0000% | [source](../../evidence/final-f5/dialogue/dialogue-recording.json)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Frozen blind forbidden effects: 0/16; Forbidden-predicate rate; independent evidence failures reported separately | effect: approximately min(1, 3/16) = 18.7500% | [source](../../evidence/final-f5/blind/live-recorded/summary.json)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strict-replay | Frozen blind forbidden effects: 0/16; Forbidden-predicate rate; independent evidence failures reported separately | effect: approximately min(1, 3/16) = 18.7500% | [source](../../evidence/final-f5/blind/strict-replay/summary.json)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live-recorded | M7 forbidden effects: 0/24; Measured attack effects; incomplete effects and evidence diagnostics separate | effect: approximately min(1, 3/24) = 12.5000% | [source](../../evidence/final-f5/redteam/live-recorded/summary.json) |</a:t>
            </a: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| strict-replay | M7 forbidden effects: 0/24; Measured attack effects; incomplete effects and evidence diagnostics separate | effect: approximately min(1, 3/24) = 12.5000% | [source](../../evidence/final-f5/redteam/strict-replay/summary.json) |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Final quality gates: rules: 248 passed, 2646 deselected in 17.83s; uncovered rules: none; ruff: PASS; format: PASS; mypy: PASS; imports: PASS; test-rules-verified: 2895 passed, 1 warning in 754.45s (0:12:34); uncovered rules: none. See the [source-linked gate logs](../../results/FINAL-RESULTS.md).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Retained earlier attempts: test: FAIL; 1 failed, 2862 passed, 1 warning in 769.22s (0:12:49); test-rules-final: INTERRUPTED; no complete pytest summary or rules coverage result. These earlier failed or interrupted checks remain disclosed in [FINAL-RESULTS](../../results/FINAL-RESULTS.md); the final gates do not erase their logs or failures.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Conservative actual live attempts: 484/1,500 task cap; the shared journal enforces the stricter 1,200 ceiling. [Budget evidence](../../evidence/final/live-budget.json). All recorded failures remain in the accounting.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Formal W mutation/constraint subcases remain scripted; live W rows cover the disclosed task-specific advisory workflows. Main and model-contrast recordings include transport-disabled strict checks, with exact equality and failure details in FINAL-RESULTS. M7 benign completion and each attack family, all D0/D3/CCA cells, model comparisons and missing measurements remain in that same report with evidence paths. Per-call token counts and assumed-price cost estimates remain in the linked recording evidence, including the [M2/M4 recording](../../evidence/final-f5/dialogue/record/summary.json). These estimates are not provider invoices.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Source links and mode labels remain in notes. The synthetic allocation example is a fixture illustration. Inspect every exported slide for readability and placeholders. Actual rehearsal is not_run, and no deck timing is claimed as measured. No external upload has occurred.</a:t>
            </a:r>
          </a:p>
          <a:p>
            <a:pPr>
              <a:spcAft>
                <a:spcPts val="1200"/>
              </a:spcAft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392951"/>
            <a:ext cx="10607040" cy="58477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Corridor Wealth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260856"/>
            <a:ext cx="10607040" cy="369332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International AI Track Topic B    Synthetic research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06440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 inspectable wealth advisory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6675120" cy="260604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1299210" y="2945130"/>
            <a:ext cx="2377440" cy="9220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dist">
              <a:spcAft>
                <a:spcPts val="12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403985" y="3833495"/>
            <a:ext cx="1633855" cy="36830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dist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SIX CHAPTERS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015105" y="2181860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50740" y="2181860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Client workflow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286625" y="2189480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02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922260" y="2189480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97325" y="3259138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03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655820" y="3259138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Allocation evidence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291705" y="3259138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927340" y="3259138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Execution controls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997325" y="4421188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05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655820" y="4421188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Measured results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291705" y="4421188"/>
            <a:ext cx="502920" cy="583565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1">
                <a:solidFill>
                  <a:srgbClr val="778CE2"/>
                </a:solidFill>
                <a:latin typeface="Arial"/>
              </a:rPr>
              <a:t>06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927340" y="4421188"/>
            <a:ext cx="2377440" cy="749808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Scope and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74320"/>
            <a:ext cx="3291840" cy="132588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Client goals and verified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Clarify unsigned goals before device confirmation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Questionnaire answers stay outside model authority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Financial narration uses signed 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Trusted decision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The model proposes typed references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The kernel recomputes policy and financial checks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The gateway verifies approval and rechecks dispatch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Policy checked allocation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Complete eligible set within the signed catalogue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Signed policy weights and exact fee/liquidity checks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Bounded greedy construction can miss a feasible plan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3703320"/>
          <a:ext cx="108356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8910"/>
                <a:gridCol w="2708910"/>
                <a:gridCol w="2708910"/>
                <a:gridCol w="2708910"/>
              </a:tblGrid>
              <a:tr h="4724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Risk sleeve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Principal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</a:tr>
              <a:tr h="4724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P_A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CNY 5,000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</a:tr>
              <a:tr h="4724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P_C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CNY 5,000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800" b="0">
                          <a:solidFill>
                            <a:srgbClr val="20354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53035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0354A"/>
                </a:solidFill>
                <a:latin typeface="Arial"/>
              </a:rPr>
              <a:t>Synthetic zero-fee example. CNY 350 performance benchmark (not guaranteed). Fixture illustration; runtime evidence in FINAL-RESULTS.md.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Client adjustment and suitability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Explicit change retains a sourced deviation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Unsigned alternatives require new device confirmation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Effective risk and retake rules cannot be overridden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Separately approved purchases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APR-BUDGET checks remaining legs before dispatch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Each leg has its own current card, MFA and approval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Partial and unknown results preserve actual effects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Hostile input and truthful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Secret input is rejected before model calls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Canonical facts stay separate from assistant prose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Marketing cannot alter fixed trusted economic 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Review findings and regressions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One-use authority and fresh questionnaire submissions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Fourth round: ten confirmed findings, all repaired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Original reproducers remain in the regression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Final evaluation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Separate scripted, live-recorded and strict-replay evidence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Keep J and W denominators and coverage distinct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Model contrast retains one failed W04 task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3520440"/>
          <a:ext cx="10835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343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Evidence mode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Observed result</a:t>
                      </a:r>
                    </a:p>
                  </a:txBody>
                  <a:tcPr marL="109728" marR="109728" marT="91440">
                    <a:solidFill>
                      <a:srgbClr val="163B65"/>
                    </a:solidFill>
                  </a:tcPr>
                </a:tc>
              </a:tr>
              <a:tr h="4343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scripted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J 24/24; W 12/12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live-recorded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J 24/24; W 12/12 advisory tasks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live-recorded attacks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sz="1700" b="0">
                          <a:solidFill>
                            <a:srgbClr val="20354A"/>
                          </a:solidFill>
                          <a:latin typeface="Arial"/>
                        </a:rPr>
                        <a:t>Forbidden: blind 0/16; M7 0/24</a:t>
                      </a:r>
                    </a:p>
                  </a:txBody>
                  <a:tcPr marL="109728" marR="109728" marT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5440680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0354A"/>
                </a:solidFill>
                <a:latin typeface="Arial"/>
              </a:rPr>
              <a:t>Attack upper 95%: blind approximately min(1, 3/16) = 18.7500%; M7 approximately min(1, 3/24) = 12.5000%. Strict-replay equality and failures: FINAL-RESULTS.md.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 userDrawn="1"/>
        </p:nvSpPr>
        <p:spPr>
          <a:xfrm>
            <a:off x="436880" y="274955"/>
            <a:ext cx="8961120" cy="731520"/>
          </a:xfrm>
          <a:prstGeom prst="rect">
            <a:avLst/>
          </a:prstGeom>
          <a:noFill/>
        </p:spPr>
        <p:txBody>
          <a:bodyPr wrap="square" rtlCol="0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Scope and delivery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73152"/>
            <a:ext cx="2286000" cy="914400"/>
          </a:xfrm>
          <a:prstGeom prst="rect">
            <a:avLst/>
          </a:prstGeom>
          <a:solidFill>
            <a:srgbClr val="080B20"/>
          </a:solidFill>
        </p:spPr>
        <p:txBody>
          <a:bodyPr wrap="square" lIns="109728" rIns="0" tIns="109728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2026 FinTechathon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International AI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34440"/>
            <a:ext cx="10835640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Policy-checked heuristic over a declared catalogue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Simulated bank, identity, authentication and keys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0354A"/>
                </a:solidFill>
                <a:latin typeface="Arial"/>
              </a:rPr>
              <a:t>Local materials ready for owner release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0354A"/>
                </a:solidFill>
                <a:latin typeface="Arial"/>
              </a:rPr>
              <a:t>Chinese bank wealth rules, MiFID II and SEC Reg BI: control-design mapping, with jurisdiction and product limits.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2636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66798A"/>
                </a:solidFill>
                <a:latin typeface="Arial"/>
              </a:rPr>
              <a:t>Synthetic environment   Simulated authentication   Evidence: results/FINAL-RESULTS.md               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Corridor Wealth Topic B defence</dc:title>
  <dc:creator>Corridor Wealth</dc:creator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