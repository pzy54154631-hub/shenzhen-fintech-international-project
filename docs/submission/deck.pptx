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7"/>
  </p:handoutMasterIdLst>
  <p:sldIdLst>
    <p:sldId id="256" r:id="rId2"/>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779C6"/>
    <a:srgbClr val="EC3462"/>
    <a:srgbClr val="B2B2B2"/>
    <a:srgbClr val="202020"/>
    <a:srgbClr val="323232"/>
    <a:srgbClr val="CC3300"/>
    <a:srgbClr val="CC0000"/>
    <a:srgbClr val="FF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6"/>
  </p:normalViewPr>
  <p:slideViewPr>
    <p:cSldViewPr snapToGrid="0" showGuides="1">
      <p:cViewPr varScale="1">
        <p:scale>
          <a:sx n="82" d="100"/>
          <a:sy n="82" d="100"/>
        </p:scale>
        <p:origin x="437" y="37"/>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2025/9/18</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2025/9/18</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Slide 1 | Estimated 25 seconds | 0:00–0:25</a:t>
            </a:r>
          </a:p>
          <a:p/>
          <a:p>
            <a:r>
              <a:t>Introduce Corridor Wealth for Topic B. Proof-carrying wealth advice: the model proposes, a verifier decides. The project demonstrates synthetic data, simulated MFA and bank execution. It is not investment advice. The supplied official template's artwork and masters are reused, with its event label localized to English and the current submission year. The repository URL identifies the public source project; the team name remains unfilled pending the user's identity value.</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Estimated 40 seconds | 0:25–1:05</a:t>
            </a:r>
          </a:p>
          <a:p/>
          <a:p>
            <a:r>
              <a:t>Three concrete failures motivate the design. Mis-selling can arise from unsuitable products or issuer incentives. Invented fees or performance promises can mislead the client. Prompt injection can attempt an unauthorized purchase. Reg BI, MiFID II suitability and NFRA suitability motivate engineering checks, not a claim of legal certification. Sources: docs/submission/regulatory-mapping.md; https://www.ecfr.gov/current/title-17/chapter-II/part-240/section-240.15l-1 ; https://eur-lex.europa.eu/legal-content/EN/TXT/?uri=CELEX:02014L0065-20260606 ; https://www.shanghai.gov.cn/rzfwgj/20250717/8ef87b63a0044d70a77c063af99eaff5.html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Estimated 35 seconds | 1:05–1:40</a:t>
            </a:r>
          </a:p>
          <a:p/>
          <a:p>
            <a:r>
              <a:t>The model proposes references and explanations. The pure verifier recomputes the declared obligations. The device signs the client's goals, questionnaire and approval. The gateway owns dispatch. No model text is an approval or executable amount. Diagram sources: kernel/check.py, schemas, gateway/service.py and sim/device.py; accepted ADR-012.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Estimated 50 seconds | 1:40–2:30</a:t>
            </a:r>
          </a:p>
          <a:p/>
          <a:p>
            <a:r>
              <a:t>Read the trust boundary, not every box. A gpt-6.1-sol planner is untrusted; it uses tools and typed references. PII is filtered on ingress. Signed state and catalogue feed BIAC recomputation. The current registry has 71 rules across enforcement points, including 43 kernel, 25 gateway and 3 sandbox rules; the kernel itself must not be labelled 60-plus. Gateway rechecks at dispatch, consumes one-shot authority and enforces APR-BUDGET. The current synthetic backend is MockBank, not the historical SimBank. Receipts are verified, factual prose crosses an output gate, and audit records form a hash chain. Static code inventory has no stochastic mode or binomial denominator.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Estimated 45 seconds | 2:30–3:15</a:t>
            </a:r>
          </a:p>
          <a:p/>
          <a:p>
            <a:r>
              <a:t>The official Topic B wording requires product comparison, client risk profiling, advisory dialogue, and compliant/explainable asset-allocation suggestions. This slide shows enlarged device risk profiling and certificate highlights. Device signing follows clarification; the certificate crop shows the policy statement, principal, purchase fees, benchmark gain and net liquidity. The separate product comparison and allocation views remain inspectable in the UI; per-leg approval follows allocation. Screens are retained I1 scripted captures, not screenshots of the F5 live-recorded evaluation. Source: templates/international-topics-rules-en.docx and figures/screens/manifest.json.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Estimated 40 seconds | 3:15–3:55</a:t>
            </a:r>
          </a:p>
          <a:p/>
          <a:p>
            <a:r>
              <a:t>Best Interest Allocation Certificate is a checkable witness. It binds signed goals, current risk assessment, catalogue and policy, includes the eligible set and exclusions, fees, liquidity and allocation constraints. The kernel recomputes it. The selector is a policy-checked heuristic and may miss an existing feasible solution. It does not prove global return optimality, legal best interest or future returns. The exact independence claim is sponsor-independent within the declared catalogue and policy. Any return is a performance benchmark (not guaranteed). Sources: DESIGN-WEALTH sections 3-6; kernel/allocation.py; gateway/output_guard.py.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Estimated 50 seconds | 3:55–4:45</a:t>
            </a:r>
          </a:p>
          <a:p/>
          <a:p>
            <a:r>
              <a:t>Green is read-only, Yellow requires approval and Red requires simulated MFA. For a multi-leg purchase, APR-BUDGET checks capacity before starting, each leg obtains its own challenge, approval and one-shot authorization, and the gateway revalidates immediately before dispatch. A changed goal voids old approvals. RISK-RETAKE-LIMIT enforces 2 assessments per business day and 8 within 12 calendar months, corresponding narrowly to NFRA Article 29. These counters do not establish professional suitability. A failed leg cannot erase prior purchases; an unknown bank outcome must be reconciled, not blindly retried. Sources: gateway/allocations.py, service.py, kernel/investment.py and the linked NFRA government 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Estimated 55 seconds | 4:45–5:40</a:t>
            </a:r>
          </a:p>
          <a:p/>
          <a:p>
            <a:r>
              <a:t>This is the key comparison: scripted all_approve policy, separate main and scaled_1000 arms. Main D0: forbidden 7/31, benign complete 20/21. Main D3: 0/31 and 4/21. Main CCA: 0/31 and 20/21. Scaled D0 and D3: 7/31 and 20/21. Scaled CCA: 0/31 and 20/21. Denominator 31 includes 21 benign and 10 adversarial execution projections, not 31 attacks. Zero-event 95% descriptive upper is 9.6774%; 7/31 upper is 39.8124% Wilson. The 20/21 completion failure upper is 22.6694%; 4/21 failure upper is 92.3324%. The careful policy changes scaled D3 to 3/31; full table retained. A partial-stop task intentionally remains incomplete. This is a bounded scripted comparison, not measured live baseline behavior. Source: results/FINAL-RESULTS.md, matrix section and evidence/final-f5.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Estimated 45 seconds | 5:40–6:25</a:t>
            </a:r>
          </a:p>
          <a:p/>
          <a:p>
            <a:r>
              <a:t>M7 has four attack categories: induced transfer, data extraction, privilege escalation and prompt injection. Each live-recorded category has 0/6 forbidden effects; approximate descriptive 95% upper is 50%. Aggregate M7 is 0/24, upper 12.5%, with 24/24 benign twins completed. Blind is live-recorded 0/16, upper 18.75%; Byzantine is scripted 0/40, upper 7.5%; independent differential is scripted 0/1000 disagreements, upper 0.3%. These are different populations and outcomes, not a pooled denominator. The blind corpus was exposed during development, not untouched holdout. Correlated authored cases and finite samples do not establish universal safety. Source: results/FINAL-RESULTS.md and its linked original evidence/final-f5 artifacts.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Estimated 40 seconds | 6:25–7:05</a:t>
            </a:r>
          </a:p>
          <a:p/>
          <a:p>
            <a:r>
              <a:t>The F5 retained report records live-recorded J 24/24, W 12/12, advisory workflows 30/30, M2 26/26 and M4 10/10. Strict replay reproduced the task observations; advisory workflow equality is reported through parent W task equality, not an extra independent sample. Formal W mechanism subcases remain scripted. Strict replay on the current code verified 142/142 observations: 141 raw observations are byte-for-byte identical, and 1 J01 observation is verified by a migration proof because the bilingual port changed the audit fact-hash format. Network transport was disabled and no API calls occurred. P2 matched 142/142 byte-for-byte on code before I1, a historical result. Verification is not task success. See docs/submission/provenance/current-replay-summary.json and evidence/p2-replay/replay-summary.json. Retain the contrast failure: gpt-5.4-mini W04 failed, with 4/5 workflows completed, and replay reproduced the failure. Source: results/FINAL-RESULTS.md, M10 and M2/M4 sections; scripts/replay_final.py.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Estimated 40 seconds | 7:05–7:45</a:t>
            </a:r>
          </a:p>
          <a:p/>
          <a:p>
            <a:r>
              <a:t>Clarification does not silently set consequential fields. The user signs the new goal; correction withdraws prior approval authority. A recomputed comparison makes the change inspectable. Stop preserves completed legs; unknown outcomes stay pending reconciliation. Only signed bank receipts establish completed execution, and the audit links the history. These retained I1 UI screenshots are scripted synthetic demonstrations; no live model is called. Screens and source manifest are retained alongside the deck.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Estimated 35 seconds | 7:45–8:20</a:t>
            </a:r>
          </a:p>
          <a:p/>
          <a:p>
            <a:r>
              <a:t>Four cross-model review rounds confirmed 21, 8, 4 and 10 findings respectively, all addressed in F1/F2/F3/F5 status with reproduction tests. Rejected findings are distinct and not counted as fixes. The retained F5 final acceptance was 2895 passing tests, zero failures, and no uncovered rules. The rule registry currently has 71 entries. Current artifact checks are recorded separately in validation.md; do not confuse historical F5 counts with a fresh test count. Import-linter plus AST checks enforce boundaries; kernel arithmetic avoids floats. Sources: docs/review/claude-review-1.json through -4.json; docs/status/F1.md, F2.md, F3.md, F5.md; FINAL-RESULTS quality gates.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Estimated 30 seconds | 8:20–8:50</a:t>
            </a:r>
          </a:p>
          <a:p/>
          <a:p>
            <a:r>
              <a:t>Conclude with limits and the actual next work. This remains synthetic data, simulated MFA, demo keys and a policy-checked heuristic. Trusted catalogue and policy quality, completeness of the fee model, device integrity and kernel correctness remain assumptions. Sponsor-independent within the declared catalogue and policy is deliberately narrower than conflict-free advice. Production work needs protected external keys, broader evaluation, legally reviewed profiling and product disclosures. Performance benchmark (not guaranteed); not investment advice. The original raw evidence bundle and frozen corpus accompany the reproduction command. The repository URL points to the public source project; it does not imply a deployed financial service.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gradFill rotWithShape="1">
          <a:gsLst>
            <a:gs pos="0">
              <a:schemeClr val="bg1"/>
            </a:gs>
            <a:gs pos="100000">
              <a:schemeClr val="bg1">
                <a:lumMod val="85000"/>
              </a:schemeClr>
            </a:gs>
          </a:gsLst>
          <a:lin ang="5400000" scaled="0"/>
        </a:gra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139"/>
            <a:ext cx="12192635" cy="685835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179"/>
            <a:ext cx="12191365" cy="685764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2025/9/18</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2025/9/18</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pzy54154631-hub/Shenzhen-Fintech-international-Project" TargetMode="Externa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1417320"/>
            <a:ext cx="6675120" cy="4526280"/>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755648"/>
            <a:ext cx="6126480" cy="548640"/>
          </a:xfrm>
          <a:prstGeom prst="rect">
            <a:avLst/>
          </a:prstGeom>
          <a:noFill/>
        </p:spPr>
        <p:txBody>
          <a:bodyPr wrap="square" lIns="0" rIns="0" tIns="0" bIns="0">
            <a:spAutoFit/>
          </a:bodyPr>
          <a:lstStyle/>
          <a:p>
            <a:pPr>
              <a:spcAft>
                <a:spcPts val="600"/>
              </a:spcAft>
            </a:pPr>
            <a:r>
              <a:rPr sz="1900" b="1">
                <a:solidFill>
                  <a:srgbClr val="FFFFFF"/>
                </a:solidFill>
                <a:latin typeface="Arial"/>
              </a:rPr>
              <a:t>FinTechathon 2026 · International AI Track</a:t>
            </a:r>
          </a:p>
        </p:txBody>
      </p:sp>
      <p:sp>
        <p:nvSpPr>
          <p:cNvPr id="4" name="TextBox 3"/>
          <p:cNvSpPr txBox="1"/>
          <p:nvPr/>
        </p:nvSpPr>
        <p:spPr>
          <a:xfrm>
            <a:off x="868680" y="2606040"/>
            <a:ext cx="6126480" cy="731520"/>
          </a:xfrm>
          <a:prstGeom prst="rect">
            <a:avLst/>
          </a:prstGeom>
          <a:noFill/>
        </p:spPr>
        <p:txBody>
          <a:bodyPr wrap="square" lIns="0" rIns="0" tIns="0" bIns="0">
            <a:spAutoFit/>
          </a:bodyPr>
          <a:lstStyle/>
          <a:p>
            <a:pPr>
              <a:spcAft>
                <a:spcPts val="600"/>
              </a:spcAft>
            </a:pPr>
            <a:r>
              <a:rPr sz="3600" b="1">
                <a:solidFill>
                  <a:srgbClr val="FFFFFF"/>
                </a:solidFill>
                <a:latin typeface="Arial"/>
              </a:rPr>
              <a:t>Corridor Wealth</a:t>
            </a:r>
          </a:p>
        </p:txBody>
      </p:sp>
      <p:sp>
        <p:nvSpPr>
          <p:cNvPr id="5" name="TextBox 4"/>
          <p:cNvSpPr txBox="1"/>
          <p:nvPr/>
        </p:nvSpPr>
        <p:spPr>
          <a:xfrm>
            <a:off x="868680" y="3520440"/>
            <a:ext cx="5943600" cy="1463040"/>
          </a:xfrm>
          <a:prstGeom prst="rect">
            <a:avLst/>
          </a:prstGeom>
          <a:noFill/>
        </p:spPr>
        <p:txBody>
          <a:bodyPr wrap="square" lIns="0" rIns="0" tIns="0" bIns="0">
            <a:spAutoFit/>
          </a:bodyPr>
          <a:lstStyle/>
          <a:p>
            <a:pPr>
              <a:spcAft>
                <a:spcPts val="600"/>
              </a:spcAft>
            </a:pPr>
            <a:r>
              <a:rPr sz="2500" b="0">
                <a:solidFill>
                  <a:srgbClr val="FFFFFF"/>
                </a:solidFill>
                <a:latin typeface="Arial"/>
              </a:rPr>
              <a:t>Proof-carrying wealth advice:</a:t>
            </a:r>
          </a:p>
          <a:p>
            <a:pPr>
              <a:spcAft>
                <a:spcPts val="600"/>
              </a:spcAft>
            </a:pPr>
            <a:r>
              <a:rPr sz="2500" b="0">
                <a:solidFill>
                  <a:srgbClr val="FFFFFF"/>
                </a:solidFill>
                <a:latin typeface="Arial"/>
              </a:rPr>
              <a:t>the model proposes,</a:t>
            </a:r>
          </a:p>
          <a:p>
            <a:pPr>
              <a:spcAft>
                <a:spcPts val="600"/>
              </a:spcAft>
            </a:pPr>
            <a:r>
              <a:rPr sz="2500" b="0">
                <a:solidFill>
                  <a:srgbClr val="FFFFFF"/>
                </a:solidFill>
                <a:latin typeface="Arial"/>
              </a:rPr>
              <a:t>a verifier decides</a:t>
            </a:r>
          </a:p>
        </p:txBody>
      </p:sp>
      <p:sp>
        <p:nvSpPr>
          <p:cNvPr id="6" name="TextBox 5"/>
          <p:cNvSpPr txBox="1"/>
          <p:nvPr/>
        </p:nvSpPr>
        <p:spPr>
          <a:xfrm>
            <a:off x="868680" y="5257800"/>
            <a:ext cx="6035040" cy="457200"/>
          </a:xfrm>
          <a:prstGeom prst="rect">
            <a:avLst/>
          </a:prstGeom>
          <a:noFill/>
        </p:spPr>
        <p:txBody>
          <a:bodyPr wrap="square" lIns="0" rIns="0" tIns="0" bIns="0">
            <a:spAutoFit/>
          </a:bodyPr>
          <a:lstStyle/>
          <a:p>
            <a:pPr>
              <a:spcAft>
                <a:spcPts val="600"/>
              </a:spcAft>
            </a:pPr>
            <a:r>
              <a:rPr sz="2000" b="0">
                <a:solidFill>
                  <a:srgbClr val="FFFFFF"/>
                </a:solidFill>
                <a:latin typeface="Arial"/>
              </a:rPr>
              <a:t>Topic B  ·  {{TEAM_NAME}}</a:t>
            </a:r>
          </a:p>
        </p:txBody>
      </p:sp>
      <p:sp>
        <p:nvSpPr>
          <p:cNvPr id="7" name="TextBox 6"/>
          <p:cNvSpPr txBox="1"/>
          <p:nvPr/>
        </p:nvSpPr>
        <p:spPr>
          <a:xfrm>
            <a:off x="868680" y="6245352"/>
            <a:ext cx="7315200" cy="365760"/>
          </a:xfrm>
          <a:prstGeom prst="rect">
            <a:avLst/>
          </a:prstGeom>
          <a:noFill/>
        </p:spPr>
        <p:txBody>
          <a:bodyPr wrap="square" lIns="0" rIns="0" tIns="0" bIns="0">
            <a:spAutoFit/>
          </a:bodyPr>
          <a:lstStyle/>
          <a:p>
            <a:pPr>
              <a:spcAft>
                <a:spcPts val="600"/>
              </a:spcAft>
            </a:pPr>
            <a:r>
              <a:rPr sz="1700" b="0">
                <a:solidFill>
                  <a:srgbClr val="FFFFFF"/>
                </a:solidFill>
                <a:latin typeface="Arial"/>
              </a:rPr>
              <a:t>Synthetic data  ·  Simulated MFA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Fluent advice can still sell, calculate or act wrongly</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02</a:t>
            </a:r>
          </a:p>
        </p:txBody>
      </p:sp>
      <p:sp>
        <p:nvSpPr>
          <p:cNvPr id="6" name="Oval 5"/>
          <p:cNvSpPr/>
          <p:nvPr/>
        </p:nvSpPr>
        <p:spPr>
          <a:xfrm>
            <a:off x="1417320" y="1691640"/>
            <a:ext cx="1417320" cy="1417320"/>
          </a:xfrm>
          <a:prstGeom prst="ellipse">
            <a:avLst/>
          </a:prstGeom>
          <a:solidFill>
            <a:srgbClr val="EA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10512" y="1847088"/>
            <a:ext cx="640080" cy="914400"/>
          </a:xfrm>
          <a:prstGeom prst="rect">
            <a:avLst/>
          </a:prstGeom>
          <a:noFill/>
        </p:spPr>
        <p:txBody>
          <a:bodyPr wrap="square" lIns="0" rIns="0" tIns="0" bIns="0">
            <a:spAutoFit/>
          </a:bodyPr>
          <a:lstStyle/>
          <a:p>
            <a:pPr>
              <a:spcAft>
                <a:spcPts val="600"/>
              </a:spcAft>
            </a:pPr>
            <a:r>
              <a:rPr sz="4400" b="1">
                <a:solidFill>
                  <a:srgbClr val="007F86"/>
                </a:solidFill>
                <a:latin typeface="Arial"/>
              </a:rPr>
              <a:t>!</a:t>
            </a:r>
          </a:p>
        </p:txBody>
      </p:sp>
      <p:sp>
        <p:nvSpPr>
          <p:cNvPr id="8" name="TextBox 7"/>
          <p:cNvSpPr txBox="1"/>
          <p:nvPr/>
        </p:nvSpPr>
        <p:spPr>
          <a:xfrm>
            <a:off x="685800" y="3474720"/>
            <a:ext cx="3154680" cy="914400"/>
          </a:xfrm>
          <a:prstGeom prst="rect">
            <a:avLst/>
          </a:prstGeom>
          <a:noFill/>
        </p:spPr>
        <p:txBody>
          <a:bodyPr wrap="square" lIns="0" rIns="0" tIns="0" bIns="0">
            <a:spAutoFit/>
          </a:bodyPr>
          <a:lstStyle/>
          <a:p>
            <a:pPr>
              <a:spcAft>
                <a:spcPts val="600"/>
              </a:spcAft>
            </a:pPr>
            <a:r>
              <a:rPr sz="2700" b="1">
                <a:solidFill>
                  <a:srgbClr val="102D50"/>
                </a:solidFill>
                <a:latin typeface="Arial"/>
              </a:rPr>
              <a:t>Mis-selling</a:t>
            </a:r>
          </a:p>
        </p:txBody>
      </p:sp>
      <p:sp>
        <p:nvSpPr>
          <p:cNvPr id="9" name="TextBox 8"/>
          <p:cNvSpPr txBox="1"/>
          <p:nvPr/>
        </p:nvSpPr>
        <p:spPr>
          <a:xfrm>
            <a:off x="685800" y="4480560"/>
            <a:ext cx="3154680" cy="685800"/>
          </a:xfrm>
          <a:prstGeom prst="rect">
            <a:avLst/>
          </a:prstGeom>
          <a:noFill/>
        </p:spPr>
        <p:txBody>
          <a:bodyPr wrap="square" lIns="0" rIns="0" tIns="0" bIns="0">
            <a:spAutoFit/>
          </a:bodyPr>
          <a:lstStyle/>
          <a:p>
            <a:pPr>
              <a:spcAft>
                <a:spcPts val="600"/>
              </a:spcAft>
            </a:pPr>
            <a:r>
              <a:rPr sz="2100" b="0">
                <a:solidFill>
                  <a:srgbClr val="526477"/>
                </a:solidFill>
                <a:latin typeface="Arial"/>
              </a:rPr>
              <a:t>Suitability · issuer bias</a:t>
            </a:r>
          </a:p>
        </p:txBody>
      </p:sp>
      <p:sp>
        <p:nvSpPr>
          <p:cNvPr id="10" name="Oval 9"/>
          <p:cNvSpPr/>
          <p:nvPr/>
        </p:nvSpPr>
        <p:spPr>
          <a:xfrm>
            <a:off x="5257800" y="1691640"/>
            <a:ext cx="1417320" cy="1417320"/>
          </a:xfrm>
          <a:prstGeom prst="ellipse">
            <a:avLst/>
          </a:prstGeom>
          <a:solidFill>
            <a:srgbClr val="EA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50992" y="1847088"/>
            <a:ext cx="640080" cy="914400"/>
          </a:xfrm>
          <a:prstGeom prst="rect">
            <a:avLst/>
          </a:prstGeom>
          <a:noFill/>
        </p:spPr>
        <p:txBody>
          <a:bodyPr wrap="square" lIns="0" rIns="0" tIns="0" bIns="0">
            <a:spAutoFit/>
          </a:bodyPr>
          <a:lstStyle/>
          <a:p>
            <a:pPr>
              <a:spcAft>
                <a:spcPts val="600"/>
              </a:spcAft>
            </a:pPr>
            <a:r>
              <a:rPr sz="4400" b="1">
                <a:solidFill>
                  <a:srgbClr val="007F86"/>
                </a:solidFill>
                <a:latin typeface="Arial"/>
              </a:rPr>
              <a:t>?</a:t>
            </a:r>
          </a:p>
        </p:txBody>
      </p:sp>
      <p:sp>
        <p:nvSpPr>
          <p:cNvPr id="12" name="TextBox 11"/>
          <p:cNvSpPr txBox="1"/>
          <p:nvPr/>
        </p:nvSpPr>
        <p:spPr>
          <a:xfrm>
            <a:off x="4526280" y="3474720"/>
            <a:ext cx="3154680" cy="914400"/>
          </a:xfrm>
          <a:prstGeom prst="rect">
            <a:avLst/>
          </a:prstGeom>
          <a:noFill/>
        </p:spPr>
        <p:txBody>
          <a:bodyPr wrap="square" lIns="0" rIns="0" tIns="0" bIns="0">
            <a:spAutoFit/>
          </a:bodyPr>
          <a:lstStyle/>
          <a:p>
            <a:pPr>
              <a:spcAft>
                <a:spcPts val="600"/>
              </a:spcAft>
            </a:pPr>
            <a:r>
              <a:rPr sz="2700" b="1">
                <a:solidFill>
                  <a:srgbClr val="102D50"/>
                </a:solidFill>
                <a:latin typeface="Arial"/>
              </a:rPr>
              <a:t>Invented numbers</a:t>
            </a:r>
          </a:p>
        </p:txBody>
      </p:sp>
      <p:sp>
        <p:nvSpPr>
          <p:cNvPr id="13" name="TextBox 12"/>
          <p:cNvSpPr txBox="1"/>
          <p:nvPr/>
        </p:nvSpPr>
        <p:spPr>
          <a:xfrm>
            <a:off x="4526280" y="4480560"/>
            <a:ext cx="3154680" cy="685800"/>
          </a:xfrm>
          <a:prstGeom prst="rect">
            <a:avLst/>
          </a:prstGeom>
          <a:noFill/>
        </p:spPr>
        <p:txBody>
          <a:bodyPr wrap="square" lIns="0" rIns="0" tIns="0" bIns="0">
            <a:spAutoFit/>
          </a:bodyPr>
          <a:lstStyle/>
          <a:p>
            <a:pPr>
              <a:spcAft>
                <a:spcPts val="600"/>
              </a:spcAft>
            </a:pPr>
            <a:r>
              <a:rPr sz="2100" b="0">
                <a:solidFill>
                  <a:srgbClr val="526477"/>
                </a:solidFill>
                <a:latin typeface="Arial"/>
              </a:rPr>
              <a:t>Fees · return promises</a:t>
            </a:r>
          </a:p>
        </p:txBody>
      </p:sp>
      <p:sp>
        <p:nvSpPr>
          <p:cNvPr id="14" name="Oval 13"/>
          <p:cNvSpPr/>
          <p:nvPr/>
        </p:nvSpPr>
        <p:spPr>
          <a:xfrm>
            <a:off x="9098280" y="1691640"/>
            <a:ext cx="1417320" cy="1417320"/>
          </a:xfrm>
          <a:prstGeom prst="ellipse">
            <a:avLst/>
          </a:prstGeom>
          <a:solidFill>
            <a:srgbClr val="EA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91472" y="1847088"/>
            <a:ext cx="640080" cy="914400"/>
          </a:xfrm>
          <a:prstGeom prst="rect">
            <a:avLst/>
          </a:prstGeom>
          <a:noFill/>
        </p:spPr>
        <p:txBody>
          <a:bodyPr wrap="square" lIns="0" rIns="0" tIns="0" bIns="0">
            <a:spAutoFit/>
          </a:bodyPr>
          <a:lstStyle/>
          <a:p>
            <a:pPr>
              <a:spcAft>
                <a:spcPts val="600"/>
              </a:spcAft>
            </a:pPr>
            <a:r>
              <a:rPr sz="4400" b="1">
                <a:solidFill>
                  <a:srgbClr val="007F86"/>
                </a:solidFill>
                <a:latin typeface="Arial"/>
              </a:rPr>
              <a:t>×</a:t>
            </a:r>
          </a:p>
        </p:txBody>
      </p:sp>
      <p:sp>
        <p:nvSpPr>
          <p:cNvPr id="16" name="TextBox 15"/>
          <p:cNvSpPr txBox="1"/>
          <p:nvPr/>
        </p:nvSpPr>
        <p:spPr>
          <a:xfrm>
            <a:off x="8366760" y="3474720"/>
            <a:ext cx="3154680" cy="914400"/>
          </a:xfrm>
          <a:prstGeom prst="rect">
            <a:avLst/>
          </a:prstGeom>
          <a:noFill/>
        </p:spPr>
        <p:txBody>
          <a:bodyPr wrap="square" lIns="0" rIns="0" tIns="0" bIns="0">
            <a:spAutoFit/>
          </a:bodyPr>
          <a:lstStyle/>
          <a:p>
            <a:pPr>
              <a:spcAft>
                <a:spcPts val="600"/>
              </a:spcAft>
            </a:pPr>
            <a:r>
              <a:rPr sz="2700" b="1">
                <a:solidFill>
                  <a:srgbClr val="102D50"/>
                </a:solidFill>
                <a:latin typeface="Arial"/>
              </a:rPr>
              <a:t>Manipulated execution</a:t>
            </a:r>
          </a:p>
        </p:txBody>
      </p:sp>
      <p:sp>
        <p:nvSpPr>
          <p:cNvPr id="17" name="TextBox 16"/>
          <p:cNvSpPr txBox="1"/>
          <p:nvPr/>
        </p:nvSpPr>
        <p:spPr>
          <a:xfrm>
            <a:off x="8366760" y="4480560"/>
            <a:ext cx="3154680" cy="685800"/>
          </a:xfrm>
          <a:prstGeom prst="rect">
            <a:avLst/>
          </a:prstGeom>
          <a:noFill/>
        </p:spPr>
        <p:txBody>
          <a:bodyPr wrap="square" lIns="0" rIns="0" tIns="0" bIns="0">
            <a:spAutoFit/>
          </a:bodyPr>
          <a:lstStyle/>
          <a:p>
            <a:pPr>
              <a:spcAft>
                <a:spcPts val="600"/>
              </a:spcAft>
            </a:pPr>
            <a:r>
              <a:rPr sz="2100" b="0">
                <a:solidFill>
                  <a:srgbClr val="526477"/>
                </a:solidFill>
                <a:latin typeface="Arial"/>
              </a:rPr>
              <a:t>Unauthorized purchase</a:t>
            </a:r>
          </a:p>
        </p:txBody>
      </p:sp>
      <p:sp>
        <p:nvSpPr>
          <p:cNvPr id="18" name="TextBox 17"/>
          <p:cNvSpPr txBox="1"/>
          <p:nvPr/>
        </p:nvSpPr>
        <p:spPr>
          <a:xfrm>
            <a:off x="685800" y="5696712"/>
            <a:ext cx="10789920" cy="457200"/>
          </a:xfrm>
          <a:prstGeom prst="rect">
            <a:avLst/>
          </a:prstGeom>
          <a:noFill/>
        </p:spPr>
        <p:txBody>
          <a:bodyPr wrap="square" lIns="0" rIns="0" tIns="0" bIns="0">
            <a:spAutoFit/>
          </a:bodyPr>
          <a:lstStyle/>
          <a:p>
            <a:pPr>
              <a:spcAft>
                <a:spcPts val="600"/>
              </a:spcAft>
            </a:pPr>
            <a:r>
              <a:rPr sz="2200" b="0">
                <a:solidFill>
                  <a:srgbClr val="102D50"/>
                </a:solidFill>
                <a:latin typeface="Arial"/>
              </a:rPr>
              <a:t>Reg BI  ·  MiFID II suitability  ·  NFRA suitability</a:t>
            </a:r>
          </a:p>
        </p:txBody>
      </p:sp>
      <p:sp>
        <p:nvSpPr>
          <p:cNvPr id="19" name="TextBox 18"/>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Regulatory design references, not legal certification · sources in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Intelligence and authority belong to separate roles</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03</a:t>
            </a:r>
          </a:p>
        </p:txBody>
      </p:sp>
      <p:pic>
        <p:nvPicPr>
          <p:cNvPr id="6" name="Picture 5" descr="authority-split-slide.png"/>
          <p:cNvPicPr>
            <a:picLocks noChangeAspect="1"/>
          </p:cNvPicPr>
          <p:nvPr/>
        </p:nvPicPr>
        <p:blipFill>
          <a:blip r:embed="rId2"/>
          <a:stretch>
            <a:fillRect/>
          </a:stretch>
        </p:blipFill>
        <p:spPr>
          <a:xfrm>
            <a:off x="457200" y="1233068"/>
            <a:ext cx="11247120" cy="4986223"/>
          </a:xfrm>
          <a:prstGeom prst="rect">
            <a:avLst/>
          </a:prstGeom>
        </p:spPr>
      </p:pic>
      <p:sp>
        <p:nvSpPr>
          <p:cNvPr id="7" name="TextBox 6"/>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Synthetic data · simulated MFA · authority comes from signed state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Every action crosses a model-free trust boundary</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04</a:t>
            </a:r>
          </a:p>
        </p:txBody>
      </p:sp>
      <p:pic>
        <p:nvPicPr>
          <p:cNvPr id="6" name="Picture 5" descr="architecture-slide.png"/>
          <p:cNvPicPr>
            <a:picLocks noChangeAspect="1"/>
          </p:cNvPicPr>
          <p:nvPr/>
        </p:nvPicPr>
        <p:blipFill>
          <a:blip r:embed="rId2"/>
          <a:stretch>
            <a:fillRect/>
          </a:stretch>
        </p:blipFill>
        <p:spPr>
          <a:xfrm>
            <a:off x="457200" y="1233068"/>
            <a:ext cx="11247120" cy="4986223"/>
          </a:xfrm>
          <a:prstGeom prst="rect">
            <a:avLst/>
          </a:prstGeom>
        </p:spPr>
      </p:pic>
      <p:sp>
        <p:nvSpPr>
          <p:cNvPr id="7" name="TextBox 6"/>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43 kernel rules · 71 total incl. gateway/sandbox · dashed teal: trusted enforcement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Topic B becomes a visible, signed advisory workflow</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05</a:t>
            </a:r>
          </a:p>
        </p:txBody>
      </p:sp>
      <p:sp>
        <p:nvSpPr>
          <p:cNvPr id="6" name="TextBox 5"/>
          <p:cNvSpPr txBox="1"/>
          <p:nvPr/>
        </p:nvSpPr>
        <p:spPr>
          <a:xfrm>
            <a:off x="502920" y="1307592"/>
            <a:ext cx="4754880" cy="502920"/>
          </a:xfrm>
          <a:prstGeom prst="rect">
            <a:avLst/>
          </a:prstGeom>
          <a:noFill/>
        </p:spPr>
        <p:txBody>
          <a:bodyPr wrap="square" lIns="0" rIns="0" tIns="0" bIns="0">
            <a:spAutoFit/>
          </a:bodyPr>
          <a:lstStyle/>
          <a:p>
            <a:pPr>
              <a:spcAft>
                <a:spcPts val="600"/>
              </a:spcAft>
            </a:pPr>
            <a:r>
              <a:rPr sz="2300" b="1">
                <a:solidFill>
                  <a:srgbClr val="102D50"/>
                </a:solidFill>
                <a:latin typeface="Arial"/>
              </a:rPr>
              <a:t>Device risk questionnaire</a:t>
            </a:r>
          </a:p>
        </p:txBody>
      </p:sp>
      <p:sp>
        <p:nvSpPr>
          <p:cNvPr id="7" name="TextBox 6"/>
          <p:cNvSpPr txBox="1"/>
          <p:nvPr/>
        </p:nvSpPr>
        <p:spPr>
          <a:xfrm>
            <a:off x="5440680" y="1307592"/>
            <a:ext cx="6217920" cy="502920"/>
          </a:xfrm>
          <a:prstGeom prst="rect">
            <a:avLst/>
          </a:prstGeom>
          <a:noFill/>
        </p:spPr>
        <p:txBody>
          <a:bodyPr wrap="square" lIns="0" rIns="0" tIns="0" bIns="0">
            <a:spAutoFit/>
          </a:bodyPr>
          <a:lstStyle/>
          <a:p>
            <a:pPr>
              <a:spcAft>
                <a:spcPts val="600"/>
              </a:spcAft>
            </a:pPr>
            <a:r>
              <a:rPr sz="2300" b="1">
                <a:solidFill>
                  <a:srgbClr val="102D50"/>
                </a:solidFill>
                <a:latin typeface="Arial"/>
              </a:rPr>
              <a:t>Certificate highlights</a:t>
            </a:r>
          </a:p>
        </p:txBody>
      </p:sp>
      <p:pic>
        <p:nvPicPr>
          <p:cNvPr id="8" name="Picture 7" descr="02-signed-questionnaire-deck.png"/>
          <p:cNvPicPr>
            <a:picLocks noChangeAspect="1"/>
          </p:cNvPicPr>
          <p:nvPr/>
        </p:nvPicPr>
        <p:blipFill>
          <a:blip r:embed="rId2"/>
          <a:stretch>
            <a:fillRect/>
          </a:stretch>
        </p:blipFill>
        <p:spPr>
          <a:xfrm>
            <a:off x="502920" y="1852649"/>
            <a:ext cx="4709160" cy="3829357"/>
          </a:xfrm>
          <a:prstGeom prst="rect">
            <a:avLst/>
          </a:prstGeom>
        </p:spPr>
      </p:pic>
      <p:pic>
        <p:nvPicPr>
          <p:cNvPr id="9" name="Picture 8" descr="04-proposal-biac-deck.png"/>
          <p:cNvPicPr>
            <a:picLocks noChangeAspect="1"/>
          </p:cNvPicPr>
          <p:nvPr/>
        </p:nvPicPr>
        <p:blipFill>
          <a:blip r:embed="rId3"/>
          <a:stretch>
            <a:fillRect/>
          </a:stretch>
        </p:blipFill>
        <p:spPr>
          <a:xfrm>
            <a:off x="5440680" y="2052241"/>
            <a:ext cx="6217920" cy="924716"/>
          </a:xfrm>
          <a:prstGeom prst="rect">
            <a:avLst/>
          </a:prstGeom>
        </p:spPr>
      </p:pic>
      <p:sp>
        <p:nvSpPr>
          <p:cNvPr id="10" name="TextBox 9"/>
          <p:cNvSpPr txBox="1"/>
          <p:nvPr/>
        </p:nvSpPr>
        <p:spPr>
          <a:xfrm>
            <a:off x="5440680" y="3566160"/>
            <a:ext cx="6217920" cy="502920"/>
          </a:xfrm>
          <a:prstGeom prst="rect">
            <a:avLst/>
          </a:prstGeom>
          <a:noFill/>
        </p:spPr>
        <p:txBody>
          <a:bodyPr wrap="square" lIns="0" rIns="0" tIns="0" bIns="0">
            <a:spAutoFit/>
          </a:bodyPr>
          <a:lstStyle/>
          <a:p>
            <a:pPr>
              <a:spcAft>
                <a:spcPts val="600"/>
              </a:spcAft>
            </a:pPr>
            <a:r>
              <a:rPr sz="2800" b="1">
                <a:solidFill>
                  <a:srgbClr val="102D50"/>
                </a:solidFill>
                <a:latin typeface="Arial"/>
              </a:rPr>
              <a:t>Principal: CNY 10,000.00</a:t>
            </a:r>
          </a:p>
        </p:txBody>
      </p:sp>
      <p:sp>
        <p:nvSpPr>
          <p:cNvPr id="11" name="TextBox 10"/>
          <p:cNvSpPr txBox="1"/>
          <p:nvPr/>
        </p:nvSpPr>
        <p:spPr>
          <a:xfrm>
            <a:off x="5440680" y="4315968"/>
            <a:ext cx="6217920" cy="502920"/>
          </a:xfrm>
          <a:prstGeom prst="rect">
            <a:avLst/>
          </a:prstGeom>
          <a:noFill/>
        </p:spPr>
        <p:txBody>
          <a:bodyPr wrap="square" lIns="0" rIns="0" tIns="0" bIns="0">
            <a:spAutoFit/>
          </a:bodyPr>
          <a:lstStyle/>
          <a:p>
            <a:pPr>
              <a:spcAft>
                <a:spcPts val="600"/>
              </a:spcAft>
            </a:pPr>
            <a:r>
              <a:rPr sz="2700" b="1">
                <a:solidFill>
                  <a:srgbClr val="007F86"/>
                </a:solidFill>
                <a:latin typeface="Arial"/>
              </a:rPr>
              <a:t>Purchase fees: CNY 0.00</a:t>
            </a:r>
          </a:p>
        </p:txBody>
      </p:sp>
      <p:sp>
        <p:nvSpPr>
          <p:cNvPr id="12" name="TextBox 11"/>
          <p:cNvSpPr txBox="1"/>
          <p:nvPr/>
        </p:nvSpPr>
        <p:spPr>
          <a:xfrm>
            <a:off x="5440680" y="5047488"/>
            <a:ext cx="6217920" cy="411480"/>
          </a:xfrm>
          <a:prstGeom prst="rect">
            <a:avLst/>
          </a:prstGeom>
          <a:noFill/>
        </p:spPr>
        <p:txBody>
          <a:bodyPr wrap="square" lIns="0" rIns="0" tIns="0" bIns="0">
            <a:spAutoFit/>
          </a:bodyPr>
          <a:lstStyle/>
          <a:p>
            <a:pPr>
              <a:spcAft>
                <a:spcPts val="600"/>
              </a:spcAft>
            </a:pPr>
            <a:r>
              <a:rPr sz="2200" b="0">
                <a:solidFill>
                  <a:srgbClr val="102D50"/>
                </a:solidFill>
                <a:latin typeface="Arial"/>
              </a:rPr>
              <a:t>Within the signed policy</a:t>
            </a:r>
          </a:p>
        </p:txBody>
      </p:sp>
      <p:sp>
        <p:nvSpPr>
          <p:cNvPr id="13" name="TextBox 12"/>
          <p:cNvSpPr txBox="1"/>
          <p:nvPr/>
        </p:nvSpPr>
        <p:spPr>
          <a:xfrm>
            <a:off x="5440680" y="5559552"/>
            <a:ext cx="6217920" cy="411480"/>
          </a:xfrm>
          <a:prstGeom prst="rect">
            <a:avLst/>
          </a:prstGeom>
          <a:noFill/>
        </p:spPr>
        <p:txBody>
          <a:bodyPr wrap="square" lIns="0" rIns="0" tIns="0" bIns="0">
            <a:spAutoFit/>
          </a:bodyPr>
          <a:lstStyle/>
          <a:p>
            <a:pPr>
              <a:spcAft>
                <a:spcPts val="600"/>
              </a:spcAft>
            </a:pPr>
            <a:r>
              <a:rPr sz="2200" b="0">
                <a:solidFill>
                  <a:srgbClr val="526477"/>
                </a:solidFill>
                <a:latin typeface="Arial"/>
              </a:rPr>
              <a:t>No purchase executed</a:t>
            </a:r>
          </a:p>
        </p:txBody>
      </p:sp>
      <p:sp>
        <p:nvSpPr>
          <p:cNvPr id="14" name="TextBox 13"/>
          <p:cNvSpPr txBox="1"/>
          <p:nvPr/>
        </p:nvSpPr>
        <p:spPr>
          <a:xfrm>
            <a:off x="548640" y="5925312"/>
            <a:ext cx="4754880" cy="347472"/>
          </a:xfrm>
          <a:prstGeom prst="rect">
            <a:avLst/>
          </a:prstGeom>
          <a:noFill/>
        </p:spPr>
        <p:txBody>
          <a:bodyPr wrap="square" lIns="0" rIns="0" tIns="0" bIns="0">
            <a:spAutoFit/>
          </a:bodyPr>
          <a:lstStyle/>
          <a:p>
            <a:pPr>
              <a:spcAft>
                <a:spcPts val="600"/>
              </a:spcAft>
            </a:pPr>
            <a:r>
              <a:rPr sz="2200" b="1">
                <a:solidFill>
                  <a:srgbClr val="007F86"/>
                </a:solidFill>
                <a:latin typeface="Arial"/>
              </a:rPr>
              <a:t>Effective C2 · allowed R1 / R2</a:t>
            </a:r>
          </a:p>
        </p:txBody>
      </p:sp>
      <p:sp>
        <p:nvSpPr>
          <p:cNvPr id="15" name="TextBox 14"/>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Retained I1 UI crops · scripted · synthetic data · simulated MFA · source images retained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BIAC certifies declared policy, not portfolio optimality</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06</a:t>
            </a:r>
          </a:p>
        </p:txBody>
      </p:sp>
      <p:sp>
        <p:nvSpPr>
          <p:cNvPr id="6" name="TextBox 5"/>
          <p:cNvSpPr txBox="1"/>
          <p:nvPr/>
        </p:nvSpPr>
        <p:spPr>
          <a:xfrm>
            <a:off x="731520" y="1463040"/>
            <a:ext cx="4846320" cy="457200"/>
          </a:xfrm>
          <a:prstGeom prst="rect">
            <a:avLst/>
          </a:prstGeom>
          <a:noFill/>
        </p:spPr>
        <p:txBody>
          <a:bodyPr wrap="square" lIns="0" rIns="0" tIns="0" bIns="0">
            <a:spAutoFit/>
          </a:bodyPr>
          <a:lstStyle/>
          <a:p>
            <a:pPr>
              <a:spcAft>
                <a:spcPts val="600"/>
              </a:spcAft>
            </a:pPr>
            <a:r>
              <a:rPr sz="1800" b="1">
                <a:solidFill>
                  <a:srgbClr val="007F86"/>
                </a:solidFill>
                <a:latin typeface="Arial"/>
              </a:rPr>
              <a:t>RECOMPUTED</a:t>
            </a:r>
          </a:p>
        </p:txBody>
      </p:sp>
      <p:sp>
        <p:nvSpPr>
          <p:cNvPr id="7" name="TextBox 6"/>
          <p:cNvSpPr txBox="1"/>
          <p:nvPr/>
        </p:nvSpPr>
        <p:spPr>
          <a:xfrm>
            <a:off x="731520" y="2240280"/>
            <a:ext cx="4846320" cy="2286000"/>
          </a:xfrm>
          <a:prstGeom prst="rect">
            <a:avLst/>
          </a:prstGeom>
          <a:noFill/>
        </p:spPr>
        <p:txBody>
          <a:bodyPr wrap="square" lIns="0" rIns="0" tIns="0" bIns="0">
            <a:spAutoFit/>
          </a:bodyPr>
          <a:lstStyle/>
          <a:p>
            <a:pPr>
              <a:spcAft>
                <a:spcPts val="600"/>
              </a:spcAft>
            </a:pPr>
            <a:r>
              <a:rPr sz="2900" b="1">
                <a:solidFill>
                  <a:srgbClr val="102D50"/>
                </a:solidFill>
                <a:latin typeface="Arial"/>
              </a:rPr>
              <a:t>Signed goals</a:t>
            </a:r>
          </a:p>
          <a:p>
            <a:pPr>
              <a:spcAft>
                <a:spcPts val="600"/>
              </a:spcAft>
            </a:pPr>
            <a:r>
              <a:rPr sz="2900" b="1">
                <a:solidFill>
                  <a:srgbClr val="102D50"/>
                </a:solidFill>
                <a:latin typeface="Arial"/>
              </a:rPr>
              <a:t>Eligible catalogue</a:t>
            </a:r>
          </a:p>
          <a:p>
            <a:pPr>
              <a:spcAft>
                <a:spcPts val="600"/>
              </a:spcAft>
            </a:pPr>
            <a:r>
              <a:rPr sz="2900" b="1">
                <a:solidFill>
                  <a:srgbClr val="102D50"/>
                </a:solidFill>
                <a:latin typeface="Arial"/>
              </a:rPr>
              <a:t>Fees and constraints</a:t>
            </a:r>
          </a:p>
        </p:txBody>
      </p:sp>
      <p:cxnSp>
        <p:nvCxnSpPr>
          <p:cNvPr id="8" name="Connector 7"/>
          <p:cNvCxnSpPr/>
          <p:nvPr/>
        </p:nvCxnSpPr>
        <p:spPr>
          <a:xfrm>
            <a:off x="5989320" y="1463040"/>
            <a:ext cx="0" cy="3931920"/>
          </a:xfrm>
          <a:prstGeom prst="line">
            <a:avLst/>
          </a:prstGeom>
          <a:ln w="12700">
            <a:solidFill>
              <a:srgbClr val="BACB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46520" y="1463040"/>
            <a:ext cx="4937760" cy="457200"/>
          </a:xfrm>
          <a:prstGeom prst="rect">
            <a:avLst/>
          </a:prstGeom>
          <a:noFill/>
        </p:spPr>
        <p:txBody>
          <a:bodyPr wrap="square" lIns="0" rIns="0" tIns="0" bIns="0">
            <a:spAutoFit/>
          </a:bodyPr>
          <a:lstStyle/>
          <a:p>
            <a:pPr>
              <a:spcAft>
                <a:spcPts val="600"/>
              </a:spcAft>
            </a:pPr>
            <a:r>
              <a:rPr sz="1800" b="1">
                <a:solidFill>
                  <a:srgbClr val="526477"/>
                </a:solidFill>
                <a:latin typeface="Arial"/>
              </a:rPr>
              <a:t>OUTSIDE THE CERTIFICATE</a:t>
            </a:r>
          </a:p>
        </p:txBody>
      </p:sp>
      <p:sp>
        <p:nvSpPr>
          <p:cNvPr id="10" name="TextBox 9"/>
          <p:cNvSpPr txBox="1"/>
          <p:nvPr/>
        </p:nvSpPr>
        <p:spPr>
          <a:xfrm>
            <a:off x="6446520" y="2240280"/>
            <a:ext cx="4846320" cy="2286000"/>
          </a:xfrm>
          <a:prstGeom prst="rect">
            <a:avLst/>
          </a:prstGeom>
          <a:noFill/>
        </p:spPr>
        <p:txBody>
          <a:bodyPr wrap="square" lIns="0" rIns="0" tIns="0" bIns="0">
            <a:spAutoFit/>
          </a:bodyPr>
          <a:lstStyle/>
          <a:p>
            <a:pPr>
              <a:spcAft>
                <a:spcPts val="600"/>
              </a:spcAft>
            </a:pPr>
            <a:r>
              <a:rPr sz="2900" b="0">
                <a:solidFill>
                  <a:srgbClr val="526477"/>
                </a:solidFill>
                <a:latin typeface="Arial"/>
              </a:rPr>
              <a:t>Global optimality</a:t>
            </a:r>
          </a:p>
          <a:p>
            <a:pPr>
              <a:spcAft>
                <a:spcPts val="600"/>
              </a:spcAft>
            </a:pPr>
            <a:r>
              <a:rPr sz="2900" b="0">
                <a:solidFill>
                  <a:srgbClr val="526477"/>
                </a:solidFill>
                <a:latin typeface="Arial"/>
              </a:rPr>
              <a:t>Future performance</a:t>
            </a:r>
          </a:p>
          <a:p>
            <a:pPr>
              <a:spcAft>
                <a:spcPts val="600"/>
              </a:spcAft>
            </a:pPr>
            <a:r>
              <a:rPr sz="2900" b="0">
                <a:solidFill>
                  <a:srgbClr val="526477"/>
                </a:solidFill>
                <a:latin typeface="Arial"/>
              </a:rPr>
              <a:t>Legal best interest</a:t>
            </a:r>
          </a:p>
        </p:txBody>
      </p:sp>
      <p:sp>
        <p:nvSpPr>
          <p:cNvPr id="11" name="TextBox 10"/>
          <p:cNvSpPr txBox="1"/>
          <p:nvPr/>
        </p:nvSpPr>
        <p:spPr>
          <a:xfrm>
            <a:off x="731520" y="5596128"/>
            <a:ext cx="10698480" cy="457200"/>
          </a:xfrm>
          <a:prstGeom prst="rect">
            <a:avLst/>
          </a:prstGeom>
          <a:noFill/>
        </p:spPr>
        <p:txBody>
          <a:bodyPr wrap="square" lIns="0" rIns="0" tIns="0" bIns="0">
            <a:spAutoFit/>
          </a:bodyPr>
          <a:lstStyle/>
          <a:p>
            <a:pPr>
              <a:spcAft>
                <a:spcPts val="600"/>
              </a:spcAft>
            </a:pPr>
            <a:r>
              <a:rPr sz="2500" b="1">
                <a:solidFill>
                  <a:srgbClr val="007F86"/>
                </a:solidFill>
                <a:latin typeface="Arial"/>
              </a:rPr>
              <a:t>Policy-checked heuristic</a:t>
            </a:r>
          </a:p>
        </p:txBody>
      </p:sp>
      <p:sp>
        <p:nvSpPr>
          <p:cNvPr id="12" name="TextBox 11"/>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Sponsor-independent within the declared catalogue and policy · performance benchmark (not guaranteed)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Each purchase leg needs fresh, bounded authority</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07</a:t>
            </a:r>
          </a:p>
        </p:txBody>
      </p:sp>
      <p:sp>
        <p:nvSpPr>
          <p:cNvPr id="6" name="Rectangle 5"/>
          <p:cNvSpPr/>
          <p:nvPr/>
        </p:nvSpPr>
        <p:spPr>
          <a:xfrm>
            <a:off x="731520" y="1463040"/>
            <a:ext cx="109728" cy="1051560"/>
          </a:xfrm>
          <a:prstGeom prst="rect">
            <a:avLst/>
          </a:prstGeom>
          <a:solidFill>
            <a:srgbClr val="1682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63040"/>
            <a:ext cx="3154680" cy="1051560"/>
          </a:xfrm>
          <a:prstGeom prst="rect">
            <a:avLst/>
          </a:prstGeom>
          <a:noFill/>
        </p:spPr>
        <p:txBody>
          <a:bodyPr wrap="square" lIns="0" rIns="0" tIns="0" bIns="0">
            <a:spAutoFit/>
          </a:bodyPr>
          <a:lstStyle/>
          <a:p>
            <a:pPr>
              <a:spcAft>
                <a:spcPts val="600"/>
              </a:spcAft>
            </a:pPr>
            <a:r>
              <a:rPr sz="2500" b="1">
                <a:solidFill>
                  <a:srgbClr val="16826F"/>
                </a:solidFill>
                <a:latin typeface="Arial"/>
              </a:rPr>
              <a:t>GREEN</a:t>
            </a:r>
          </a:p>
          <a:p>
            <a:pPr>
              <a:spcAft>
                <a:spcPts val="600"/>
              </a:spcAft>
            </a:pPr>
            <a:r>
              <a:rPr sz="2500" b="1">
                <a:solidFill>
                  <a:srgbClr val="16826F"/>
                </a:solidFill>
                <a:latin typeface="Arial"/>
              </a:rPr>
              <a:t>Read</a:t>
            </a:r>
          </a:p>
        </p:txBody>
      </p:sp>
      <p:sp>
        <p:nvSpPr>
          <p:cNvPr id="8" name="Rectangle 7"/>
          <p:cNvSpPr/>
          <p:nvPr/>
        </p:nvSpPr>
        <p:spPr>
          <a:xfrm>
            <a:off x="4389120" y="1463040"/>
            <a:ext cx="109728" cy="1051560"/>
          </a:xfrm>
          <a:prstGeom prst="rect">
            <a:avLst/>
          </a:prstGeom>
          <a:solidFill>
            <a:srgbClr val="A976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463040"/>
            <a:ext cx="3154680" cy="1051560"/>
          </a:xfrm>
          <a:prstGeom prst="rect">
            <a:avLst/>
          </a:prstGeom>
          <a:noFill/>
        </p:spPr>
        <p:txBody>
          <a:bodyPr wrap="square" lIns="0" rIns="0" tIns="0" bIns="0">
            <a:spAutoFit/>
          </a:bodyPr>
          <a:lstStyle/>
          <a:p>
            <a:pPr>
              <a:spcAft>
                <a:spcPts val="600"/>
              </a:spcAft>
            </a:pPr>
            <a:r>
              <a:rPr sz="2500" b="1">
                <a:solidFill>
                  <a:srgbClr val="A97610"/>
                </a:solidFill>
                <a:latin typeface="Arial"/>
              </a:rPr>
              <a:t>YELLOW</a:t>
            </a:r>
          </a:p>
          <a:p>
            <a:pPr>
              <a:spcAft>
                <a:spcPts val="600"/>
              </a:spcAft>
            </a:pPr>
            <a:r>
              <a:rPr sz="2500" b="1">
                <a:solidFill>
                  <a:srgbClr val="A97610"/>
                </a:solidFill>
                <a:latin typeface="Arial"/>
              </a:rPr>
              <a:t>Approve</a:t>
            </a:r>
          </a:p>
        </p:txBody>
      </p:sp>
      <p:sp>
        <p:nvSpPr>
          <p:cNvPr id="10" name="Rectangle 9"/>
          <p:cNvSpPr/>
          <p:nvPr/>
        </p:nvSpPr>
        <p:spPr>
          <a:xfrm>
            <a:off x="8046720" y="1463040"/>
            <a:ext cx="109728" cy="1051560"/>
          </a:xfrm>
          <a:prstGeom prst="rect">
            <a:avLst/>
          </a:prstGeom>
          <a:solidFill>
            <a:srgbClr val="A83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463040"/>
            <a:ext cx="3154680" cy="1051560"/>
          </a:xfrm>
          <a:prstGeom prst="rect">
            <a:avLst/>
          </a:prstGeom>
          <a:noFill/>
        </p:spPr>
        <p:txBody>
          <a:bodyPr wrap="square" lIns="0" rIns="0" tIns="0" bIns="0">
            <a:spAutoFit/>
          </a:bodyPr>
          <a:lstStyle/>
          <a:p>
            <a:pPr>
              <a:spcAft>
                <a:spcPts val="600"/>
              </a:spcAft>
            </a:pPr>
            <a:r>
              <a:rPr sz="2500" b="1">
                <a:solidFill>
                  <a:srgbClr val="A83546"/>
                </a:solidFill>
                <a:latin typeface="Arial"/>
              </a:rPr>
              <a:t>RED</a:t>
            </a:r>
          </a:p>
          <a:p>
            <a:pPr>
              <a:spcAft>
                <a:spcPts val="600"/>
              </a:spcAft>
            </a:pPr>
            <a:r>
              <a:rPr sz="2500" b="1">
                <a:solidFill>
                  <a:srgbClr val="A83546"/>
                </a:solidFill>
                <a:latin typeface="Arial"/>
              </a:rPr>
              <a:t>Simulated MFA</a:t>
            </a:r>
          </a:p>
        </p:txBody>
      </p:sp>
      <p:sp>
        <p:nvSpPr>
          <p:cNvPr id="12" name="Rectangle 11"/>
          <p:cNvSpPr/>
          <p:nvPr/>
        </p:nvSpPr>
        <p:spPr>
          <a:xfrm>
            <a:off x="640080" y="2999232"/>
            <a:ext cx="2514600" cy="960120"/>
          </a:xfrm>
          <a:prstGeom prst="rect">
            <a:avLst/>
          </a:prstGeom>
          <a:solidFill>
            <a:srgbClr val="EA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3264408"/>
            <a:ext cx="2276856" cy="457200"/>
          </a:xfrm>
          <a:prstGeom prst="rect">
            <a:avLst/>
          </a:prstGeom>
          <a:noFill/>
        </p:spPr>
        <p:txBody>
          <a:bodyPr wrap="square" lIns="0" rIns="0" tIns="0" bIns="0">
            <a:spAutoFit/>
          </a:bodyPr>
          <a:lstStyle/>
          <a:p>
            <a:pPr>
              <a:spcAft>
                <a:spcPts val="600"/>
              </a:spcAft>
            </a:pPr>
            <a:r>
              <a:rPr sz="1900" b="1">
                <a:solidFill>
                  <a:srgbClr val="102D50"/>
                </a:solidFill>
                <a:latin typeface="Arial"/>
              </a:rPr>
              <a:t>APR-BUDGET</a:t>
            </a:r>
          </a:p>
        </p:txBody>
      </p:sp>
      <p:sp>
        <p:nvSpPr>
          <p:cNvPr id="14" name="TextBox 13"/>
          <p:cNvSpPr txBox="1"/>
          <p:nvPr/>
        </p:nvSpPr>
        <p:spPr>
          <a:xfrm>
            <a:off x="3218687" y="3200400"/>
            <a:ext cx="320040" cy="548640"/>
          </a:xfrm>
          <a:prstGeom prst="rect">
            <a:avLst/>
          </a:prstGeom>
          <a:noFill/>
        </p:spPr>
        <p:txBody>
          <a:bodyPr wrap="square" lIns="0" rIns="0" tIns="0" bIns="0">
            <a:spAutoFit/>
          </a:bodyPr>
          <a:lstStyle/>
          <a:p>
            <a:pPr>
              <a:spcAft>
                <a:spcPts val="600"/>
              </a:spcAft>
            </a:pPr>
            <a:r>
              <a:rPr sz="2300" b="1">
                <a:solidFill>
                  <a:srgbClr val="007F86"/>
                </a:solidFill>
                <a:latin typeface="Arial"/>
              </a:rPr>
              <a:t>→</a:t>
            </a:r>
          </a:p>
        </p:txBody>
      </p:sp>
      <p:sp>
        <p:nvSpPr>
          <p:cNvPr id="15" name="Rectangle 14"/>
          <p:cNvSpPr/>
          <p:nvPr/>
        </p:nvSpPr>
        <p:spPr>
          <a:xfrm>
            <a:off x="3520439" y="2999232"/>
            <a:ext cx="2514600" cy="960120"/>
          </a:xfrm>
          <a:prstGeom prst="rect">
            <a:avLst/>
          </a:prstGeom>
          <a:solidFill>
            <a:srgbClr val="EA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9311" y="3264408"/>
            <a:ext cx="2276856" cy="457200"/>
          </a:xfrm>
          <a:prstGeom prst="rect">
            <a:avLst/>
          </a:prstGeom>
          <a:noFill/>
        </p:spPr>
        <p:txBody>
          <a:bodyPr wrap="square" lIns="0" rIns="0" tIns="0" bIns="0">
            <a:spAutoFit/>
          </a:bodyPr>
          <a:lstStyle/>
          <a:p>
            <a:pPr>
              <a:spcAft>
                <a:spcPts val="600"/>
              </a:spcAft>
            </a:pPr>
            <a:r>
              <a:rPr sz="1900" b="1">
                <a:solidFill>
                  <a:srgbClr val="102D50"/>
                </a:solidFill>
                <a:latin typeface="Arial"/>
              </a:rPr>
              <a:t>Per-leg MFA</a:t>
            </a:r>
          </a:p>
        </p:txBody>
      </p:sp>
      <p:sp>
        <p:nvSpPr>
          <p:cNvPr id="17" name="TextBox 16"/>
          <p:cNvSpPr txBox="1"/>
          <p:nvPr/>
        </p:nvSpPr>
        <p:spPr>
          <a:xfrm>
            <a:off x="6099048" y="3200400"/>
            <a:ext cx="320040" cy="548640"/>
          </a:xfrm>
          <a:prstGeom prst="rect">
            <a:avLst/>
          </a:prstGeom>
          <a:noFill/>
        </p:spPr>
        <p:txBody>
          <a:bodyPr wrap="square" lIns="0" rIns="0" tIns="0" bIns="0">
            <a:spAutoFit/>
          </a:bodyPr>
          <a:lstStyle/>
          <a:p>
            <a:pPr>
              <a:spcAft>
                <a:spcPts val="600"/>
              </a:spcAft>
            </a:pPr>
            <a:r>
              <a:rPr sz="2300" b="1">
                <a:solidFill>
                  <a:srgbClr val="007F86"/>
                </a:solidFill>
                <a:latin typeface="Arial"/>
              </a:rPr>
              <a:t>→</a:t>
            </a:r>
          </a:p>
        </p:txBody>
      </p:sp>
      <p:sp>
        <p:nvSpPr>
          <p:cNvPr id="18" name="Rectangle 17"/>
          <p:cNvSpPr/>
          <p:nvPr/>
        </p:nvSpPr>
        <p:spPr>
          <a:xfrm>
            <a:off x="6400800" y="2999232"/>
            <a:ext cx="2514600" cy="960120"/>
          </a:xfrm>
          <a:prstGeom prst="rect">
            <a:avLst/>
          </a:prstGeom>
          <a:solidFill>
            <a:srgbClr val="EA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3264408"/>
            <a:ext cx="2276856" cy="457200"/>
          </a:xfrm>
          <a:prstGeom prst="rect">
            <a:avLst/>
          </a:prstGeom>
          <a:noFill/>
        </p:spPr>
        <p:txBody>
          <a:bodyPr wrap="square" lIns="0" rIns="0" tIns="0" bIns="0">
            <a:spAutoFit/>
          </a:bodyPr>
          <a:lstStyle/>
          <a:p>
            <a:pPr>
              <a:spcAft>
                <a:spcPts val="600"/>
              </a:spcAft>
            </a:pPr>
            <a:r>
              <a:rPr sz="1900" b="1">
                <a:solidFill>
                  <a:srgbClr val="102D50"/>
                </a:solidFill>
                <a:latin typeface="Arial"/>
              </a:rPr>
              <a:t>Device approval</a:t>
            </a:r>
          </a:p>
        </p:txBody>
      </p:sp>
      <p:sp>
        <p:nvSpPr>
          <p:cNvPr id="20" name="TextBox 19"/>
          <p:cNvSpPr txBox="1"/>
          <p:nvPr/>
        </p:nvSpPr>
        <p:spPr>
          <a:xfrm>
            <a:off x="8979408" y="3200400"/>
            <a:ext cx="320040" cy="548640"/>
          </a:xfrm>
          <a:prstGeom prst="rect">
            <a:avLst/>
          </a:prstGeom>
          <a:noFill/>
        </p:spPr>
        <p:txBody>
          <a:bodyPr wrap="square" lIns="0" rIns="0" tIns="0" bIns="0">
            <a:spAutoFit/>
          </a:bodyPr>
          <a:lstStyle/>
          <a:p>
            <a:pPr>
              <a:spcAft>
                <a:spcPts val="600"/>
              </a:spcAft>
            </a:pPr>
            <a:r>
              <a:rPr sz="2300" b="1">
                <a:solidFill>
                  <a:srgbClr val="007F86"/>
                </a:solidFill>
                <a:latin typeface="Arial"/>
              </a:rPr>
              <a:t>→</a:t>
            </a:r>
          </a:p>
        </p:txBody>
      </p:sp>
      <p:sp>
        <p:nvSpPr>
          <p:cNvPr id="21" name="Rectangle 20"/>
          <p:cNvSpPr/>
          <p:nvPr/>
        </p:nvSpPr>
        <p:spPr>
          <a:xfrm>
            <a:off x="9281159" y="2999232"/>
            <a:ext cx="2514600" cy="960120"/>
          </a:xfrm>
          <a:prstGeom prst="rect">
            <a:avLst/>
          </a:prstGeom>
          <a:solidFill>
            <a:srgbClr val="EA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00032" y="3264408"/>
            <a:ext cx="2276856" cy="457200"/>
          </a:xfrm>
          <a:prstGeom prst="rect">
            <a:avLst/>
          </a:prstGeom>
          <a:noFill/>
        </p:spPr>
        <p:txBody>
          <a:bodyPr wrap="square" lIns="0" rIns="0" tIns="0" bIns="0">
            <a:spAutoFit/>
          </a:bodyPr>
          <a:lstStyle/>
          <a:p>
            <a:pPr>
              <a:spcAft>
                <a:spcPts val="600"/>
              </a:spcAft>
            </a:pPr>
            <a:r>
              <a:rPr sz="1900" b="1">
                <a:solidFill>
                  <a:srgbClr val="102D50"/>
                </a:solidFill>
                <a:latin typeface="Arial"/>
              </a:rPr>
              <a:t>Dispatch recheck</a:t>
            </a:r>
          </a:p>
        </p:txBody>
      </p:sp>
      <p:sp>
        <p:nvSpPr>
          <p:cNvPr id="23" name="TextBox 22"/>
          <p:cNvSpPr txBox="1"/>
          <p:nvPr/>
        </p:nvSpPr>
        <p:spPr>
          <a:xfrm>
            <a:off x="731520" y="4526280"/>
            <a:ext cx="10698480" cy="548640"/>
          </a:xfrm>
          <a:prstGeom prst="rect">
            <a:avLst/>
          </a:prstGeom>
          <a:noFill/>
        </p:spPr>
        <p:txBody>
          <a:bodyPr wrap="square" lIns="0" rIns="0" tIns="0" bIns="0">
            <a:spAutoFit/>
          </a:bodyPr>
          <a:lstStyle/>
          <a:p>
            <a:pPr>
              <a:spcAft>
                <a:spcPts val="600"/>
              </a:spcAft>
            </a:pPr>
            <a:r>
              <a:rPr sz="2700" b="1">
                <a:solidFill>
                  <a:srgbClr val="007F86"/>
                </a:solidFill>
                <a:latin typeface="Arial"/>
              </a:rPr>
              <a:t>Goal changes void approvals</a:t>
            </a:r>
          </a:p>
        </p:txBody>
      </p:sp>
      <p:sp>
        <p:nvSpPr>
          <p:cNvPr id="24" name="TextBox 23"/>
          <p:cNvSpPr txBox="1"/>
          <p:nvPr/>
        </p:nvSpPr>
        <p:spPr>
          <a:xfrm>
            <a:off x="731520" y="5321808"/>
            <a:ext cx="10698480" cy="457200"/>
          </a:xfrm>
          <a:prstGeom prst="rect">
            <a:avLst/>
          </a:prstGeom>
          <a:noFill/>
        </p:spPr>
        <p:txBody>
          <a:bodyPr wrap="square" lIns="0" rIns="0" tIns="0" bIns="0">
            <a:spAutoFit/>
          </a:bodyPr>
          <a:lstStyle/>
          <a:p>
            <a:pPr>
              <a:spcAft>
                <a:spcPts val="600"/>
              </a:spcAft>
            </a:pPr>
            <a:r>
              <a:rPr sz="2300" b="0">
                <a:solidFill>
                  <a:srgbClr val="102D50"/>
                </a:solidFill>
                <a:latin typeface="Arial"/>
              </a:rPr>
              <a:t>RISK-RETAKE-LIMIT: 2/day · 8/12 months</a:t>
            </a:r>
          </a:p>
        </p:txBody>
      </p:sp>
      <p:sp>
        <p:nvSpPr>
          <p:cNvPr id="25" name="TextBox 24"/>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NFRA Article 29 · one-shot authorization · partial completion preserved; unknown outcome reconciled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Corridor combines protection with completion</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08</a:t>
            </a:r>
          </a:p>
        </p:txBody>
      </p:sp>
      <p:pic>
        <p:nvPicPr>
          <p:cNvPr id="6" name="Picture 5" descr="baseline-matrix-slide.png"/>
          <p:cNvPicPr>
            <a:picLocks noChangeAspect="1"/>
          </p:cNvPicPr>
          <p:nvPr/>
        </p:nvPicPr>
        <p:blipFill>
          <a:blip r:embed="rId2"/>
          <a:stretch>
            <a:fillRect/>
          </a:stretch>
        </p:blipFill>
        <p:spPr>
          <a:xfrm>
            <a:off x="769677" y="1188720"/>
            <a:ext cx="10622165" cy="4709160"/>
          </a:xfrm>
          <a:prstGeom prst="rect">
            <a:avLst/>
          </a:prstGeom>
        </p:spPr>
      </p:pic>
      <p:sp>
        <p:nvSpPr>
          <p:cNvPr id="7" name="TextBox 6"/>
          <p:cNvSpPr txBox="1"/>
          <p:nvPr/>
        </p:nvSpPr>
        <p:spPr>
          <a:xfrm>
            <a:off x="548640" y="6062472"/>
            <a:ext cx="10789920" cy="274320"/>
          </a:xfrm>
          <a:prstGeom prst="rect">
            <a:avLst/>
          </a:prstGeom>
          <a:noFill/>
        </p:spPr>
        <p:txBody>
          <a:bodyPr wrap="square" lIns="0" rIns="0" tIns="0" bIns="0">
            <a:spAutoFit/>
          </a:bodyPr>
          <a:lstStyle/>
          <a:p>
            <a:pPr>
              <a:spcAft>
                <a:spcPts val="600"/>
              </a:spcAft>
            </a:pPr>
            <a:r>
              <a:rPr sz="1400" b="0">
                <a:solidFill>
                  <a:srgbClr val="526477"/>
                </a:solidFill>
                <a:latin typeface="Arial"/>
              </a:rPr>
              <a:t>scripted · all_approve · each arm: 21 benign + 10 adversarial projections</a:t>
            </a:r>
          </a:p>
        </p:txBody>
      </p:sp>
      <p:sp>
        <p:nvSpPr>
          <p:cNvPr id="8" name="TextBox 7"/>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95% upper: 0/31 ≈ 9.68%; 7/31 ≤ 39.81% (Wilson) · F5 retained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Observed attacks produced no forbidden effects</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09</a:t>
            </a:r>
          </a:p>
        </p:txBody>
      </p:sp>
      <p:pic>
        <p:nvPicPr>
          <p:cNvPr id="6" name="Picture 5" descr="security-results-slide.png"/>
          <p:cNvPicPr>
            <a:picLocks noChangeAspect="1"/>
          </p:cNvPicPr>
          <p:nvPr/>
        </p:nvPicPr>
        <p:blipFill>
          <a:blip r:embed="rId2"/>
          <a:stretch>
            <a:fillRect/>
          </a:stretch>
        </p:blipFill>
        <p:spPr>
          <a:xfrm>
            <a:off x="457200" y="1233068"/>
            <a:ext cx="11247120" cy="4986223"/>
          </a:xfrm>
          <a:prstGeom prst="rect">
            <a:avLst/>
          </a:prstGeom>
        </p:spPr>
      </p:pic>
      <p:sp>
        <p:nvSpPr>
          <p:cNvPr id="7" name="TextBox 6"/>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M7: live-recorded · synthetic data · descriptive bounds · F5 retained report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Strict offline replay verifies the recorded outcomes</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10</a:t>
            </a:r>
          </a:p>
        </p:txBody>
      </p:sp>
      <p:pic>
        <p:nvPicPr>
          <p:cNvPr id="6" name="Picture 5" descr="completion-slide.png"/>
          <p:cNvPicPr>
            <a:picLocks noChangeAspect="1"/>
          </p:cNvPicPr>
          <p:nvPr/>
        </p:nvPicPr>
        <p:blipFill>
          <a:blip r:embed="rId2"/>
          <a:stretch>
            <a:fillRect/>
          </a:stretch>
        </p:blipFill>
        <p:spPr>
          <a:xfrm>
            <a:off x="1027496" y="1188720"/>
            <a:ext cx="10106526" cy="4480560"/>
          </a:xfrm>
          <a:prstGeom prst="rect">
            <a:avLst/>
          </a:prstGeom>
        </p:spPr>
      </p:pic>
      <p:sp>
        <p:nvSpPr>
          <p:cNvPr id="7" name="TextBox 6"/>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Current strict replay: 142/142 verified · 141 raw identical · 1 J01 schema migration · network disabled</a:t>
            </a:r>
          </a:p>
        </p:txBody>
      </p:sp>
      <p:sp>
        <p:nvSpPr>
          <p:cNvPr id="8" name="TextBox 7"/>
          <p:cNvSpPr txBox="1"/>
          <p:nvPr/>
        </p:nvSpPr>
        <p:spPr>
          <a:xfrm>
            <a:off x="594360" y="5687568"/>
            <a:ext cx="10789920" cy="640080"/>
          </a:xfrm>
          <a:prstGeom prst="rect">
            <a:avLst/>
          </a:prstGeom>
          <a:noFill/>
        </p:spPr>
        <p:txBody>
          <a:bodyPr wrap="square" lIns="0" rIns="0" tIns="0" bIns="0">
            <a:spAutoFit/>
          </a:bodyPr>
          <a:lstStyle/>
          <a:p>
            <a:pPr>
              <a:spcAft>
                <a:spcPts val="600"/>
              </a:spcAft>
            </a:pPr>
            <a:r>
              <a:rPr sz="1500" b="0">
                <a:solidFill>
                  <a:srgbClr val="007F86"/>
                </a:solidFill>
                <a:latin typeface="Arial"/>
              </a:rPr>
              <a:t>uv run --offline --frozen python scripts/replay_final.py --source evidence/final-f5</a:t>
            </a:r>
          </a:p>
          <a:p>
            <a:pPr>
              <a:spcAft>
                <a:spcPts val="600"/>
              </a:spcAft>
            </a:pPr>
            <a:r>
              <a:rPr sz="1500" b="0">
                <a:solidFill>
                  <a:srgbClr val="007F86"/>
                </a:solidFill>
                <a:latin typeface="Arial"/>
              </a:rPr>
              <a:t>--output evidence/reproduced --cases data/blind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Clients can clarify, correct and stop safely</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11</a:t>
            </a:r>
          </a:p>
        </p:txBody>
      </p:sp>
      <p:sp>
        <p:nvSpPr>
          <p:cNvPr id="6" name="TextBox 5"/>
          <p:cNvSpPr txBox="1"/>
          <p:nvPr/>
        </p:nvSpPr>
        <p:spPr>
          <a:xfrm>
            <a:off x="502920" y="1353312"/>
            <a:ext cx="6675120" cy="502920"/>
          </a:xfrm>
          <a:prstGeom prst="rect">
            <a:avLst/>
          </a:prstGeom>
          <a:noFill/>
        </p:spPr>
        <p:txBody>
          <a:bodyPr wrap="square" lIns="0" rIns="0" tIns="0" bIns="0">
            <a:spAutoFit/>
          </a:bodyPr>
          <a:lstStyle/>
          <a:p>
            <a:pPr>
              <a:spcAft>
                <a:spcPts val="600"/>
              </a:spcAft>
            </a:pPr>
            <a:r>
              <a:rPr sz="2500" b="1">
                <a:solidFill>
                  <a:srgbClr val="102D50"/>
                </a:solidFill>
                <a:latin typeface="Arial"/>
              </a:rPr>
              <a:t>Correct → re-sign</a:t>
            </a:r>
          </a:p>
        </p:txBody>
      </p:sp>
      <p:sp>
        <p:nvSpPr>
          <p:cNvPr id="7" name="TextBox 6"/>
          <p:cNvSpPr txBox="1"/>
          <p:nvPr/>
        </p:nvSpPr>
        <p:spPr>
          <a:xfrm>
            <a:off x="7360920" y="1353312"/>
            <a:ext cx="4343400" cy="502920"/>
          </a:xfrm>
          <a:prstGeom prst="rect">
            <a:avLst/>
          </a:prstGeom>
          <a:noFill/>
        </p:spPr>
        <p:txBody>
          <a:bodyPr wrap="square" lIns="0" rIns="0" tIns="0" bIns="0">
            <a:spAutoFit/>
          </a:bodyPr>
          <a:lstStyle/>
          <a:p>
            <a:pPr>
              <a:spcAft>
                <a:spcPts val="600"/>
              </a:spcAft>
            </a:pPr>
            <a:r>
              <a:rPr sz="2300" b="1">
                <a:solidFill>
                  <a:srgbClr val="102D50"/>
                </a:solidFill>
                <a:latin typeface="Arial"/>
              </a:rPr>
              <a:t>Stop → keep settled holdings</a:t>
            </a:r>
          </a:p>
        </p:txBody>
      </p:sp>
      <p:pic>
        <p:nvPicPr>
          <p:cNvPr id="8" name="Picture 7" descr="06-correction-deck.png"/>
          <p:cNvPicPr>
            <a:picLocks noChangeAspect="1"/>
          </p:cNvPicPr>
          <p:nvPr/>
        </p:nvPicPr>
        <p:blipFill>
          <a:blip r:embed="rId2"/>
          <a:stretch>
            <a:fillRect/>
          </a:stretch>
        </p:blipFill>
        <p:spPr>
          <a:xfrm>
            <a:off x="502920" y="1998403"/>
            <a:ext cx="6675120" cy="1681616"/>
          </a:xfrm>
          <a:prstGeom prst="rect">
            <a:avLst/>
          </a:prstGeom>
        </p:spPr>
      </p:pic>
      <p:pic>
        <p:nvPicPr>
          <p:cNvPr id="9" name="Picture 8" descr="13-partial-stop-deck.png"/>
          <p:cNvPicPr>
            <a:picLocks noChangeAspect="1"/>
          </p:cNvPicPr>
          <p:nvPr/>
        </p:nvPicPr>
        <p:blipFill>
          <a:blip r:embed="rId3"/>
          <a:stretch>
            <a:fillRect/>
          </a:stretch>
        </p:blipFill>
        <p:spPr>
          <a:xfrm>
            <a:off x="7360920" y="2006291"/>
            <a:ext cx="4343400" cy="2351640"/>
          </a:xfrm>
          <a:prstGeom prst="rect">
            <a:avLst/>
          </a:prstGeom>
        </p:spPr>
      </p:pic>
      <p:sp>
        <p:nvSpPr>
          <p:cNvPr id="10" name="TextBox 9"/>
          <p:cNvSpPr txBox="1"/>
          <p:nvPr/>
        </p:nvSpPr>
        <p:spPr>
          <a:xfrm>
            <a:off x="548640" y="4069080"/>
            <a:ext cx="6629400" cy="502920"/>
          </a:xfrm>
          <a:prstGeom prst="rect">
            <a:avLst/>
          </a:prstGeom>
          <a:noFill/>
        </p:spPr>
        <p:txBody>
          <a:bodyPr wrap="square" lIns="0" rIns="0" tIns="0" bIns="0">
            <a:spAutoFit/>
          </a:bodyPr>
          <a:lstStyle/>
          <a:p>
            <a:pPr>
              <a:spcAft>
                <a:spcPts val="600"/>
              </a:spcAft>
            </a:pPr>
            <a:r>
              <a:rPr sz="2700" b="1">
                <a:solidFill>
                  <a:srgbClr val="007F86"/>
                </a:solidFill>
                <a:latin typeface="Arial"/>
              </a:rPr>
              <a:t>CNY 10,000.00 → CNY 9,000.00</a:t>
            </a:r>
          </a:p>
        </p:txBody>
      </p:sp>
      <p:sp>
        <p:nvSpPr>
          <p:cNvPr id="11" name="TextBox 10"/>
          <p:cNvSpPr txBox="1"/>
          <p:nvPr/>
        </p:nvSpPr>
        <p:spPr>
          <a:xfrm>
            <a:off x="548640" y="4800600"/>
            <a:ext cx="6629400" cy="457200"/>
          </a:xfrm>
          <a:prstGeom prst="rect">
            <a:avLst/>
          </a:prstGeom>
          <a:noFill/>
        </p:spPr>
        <p:txBody>
          <a:bodyPr wrap="square" lIns="0" rIns="0" tIns="0" bIns="0">
            <a:spAutoFit/>
          </a:bodyPr>
          <a:lstStyle/>
          <a:p>
            <a:pPr>
              <a:spcAft>
                <a:spcPts val="600"/>
              </a:spcAft>
            </a:pPr>
            <a:r>
              <a:rPr sz="2200" b="0">
                <a:solidFill>
                  <a:srgbClr val="102D50"/>
                </a:solidFill>
                <a:latin typeface="Arial"/>
              </a:rPr>
              <a:t>Old approval authority withdrawn</a:t>
            </a:r>
          </a:p>
        </p:txBody>
      </p:sp>
      <p:sp>
        <p:nvSpPr>
          <p:cNvPr id="12" name="TextBox 11"/>
          <p:cNvSpPr txBox="1"/>
          <p:nvPr/>
        </p:nvSpPr>
        <p:spPr>
          <a:xfrm>
            <a:off x="548640" y="5376672"/>
            <a:ext cx="6629400" cy="502920"/>
          </a:xfrm>
          <a:prstGeom prst="rect">
            <a:avLst/>
          </a:prstGeom>
          <a:noFill/>
        </p:spPr>
        <p:txBody>
          <a:bodyPr wrap="square" lIns="0" rIns="0" tIns="0" bIns="0">
            <a:spAutoFit/>
          </a:bodyPr>
          <a:lstStyle/>
          <a:p>
            <a:pPr>
              <a:spcAft>
                <a:spcPts val="600"/>
              </a:spcAft>
            </a:pPr>
            <a:r>
              <a:rPr sz="2100" b="0">
                <a:solidFill>
                  <a:srgbClr val="526477"/>
                </a:solidFill>
                <a:latin typeface="Arial"/>
              </a:rPr>
              <a:t>New goal signed before recomputation</a:t>
            </a:r>
          </a:p>
        </p:txBody>
      </p:sp>
      <p:sp>
        <p:nvSpPr>
          <p:cNvPr id="13" name="TextBox 12"/>
          <p:cNvSpPr txBox="1"/>
          <p:nvPr/>
        </p:nvSpPr>
        <p:spPr>
          <a:xfrm>
            <a:off x="7360920" y="4608576"/>
            <a:ext cx="4343400" cy="411480"/>
          </a:xfrm>
          <a:prstGeom prst="rect">
            <a:avLst/>
          </a:prstGeom>
          <a:noFill/>
        </p:spPr>
        <p:txBody>
          <a:bodyPr wrap="square" lIns="0" rIns="0" tIns="0" bIns="0">
            <a:spAutoFit/>
          </a:bodyPr>
          <a:lstStyle/>
          <a:p>
            <a:pPr>
              <a:spcAft>
                <a:spcPts val="600"/>
              </a:spcAft>
            </a:pPr>
            <a:r>
              <a:rPr sz="2200" b="0">
                <a:solidFill>
                  <a:srgbClr val="102D50"/>
                </a:solidFill>
                <a:latin typeface="Arial"/>
              </a:rPr>
              <a:t>Settled purchase retained</a:t>
            </a:r>
          </a:p>
        </p:txBody>
      </p:sp>
      <p:sp>
        <p:nvSpPr>
          <p:cNvPr id="14" name="TextBox 13"/>
          <p:cNvSpPr txBox="1"/>
          <p:nvPr/>
        </p:nvSpPr>
        <p:spPr>
          <a:xfrm>
            <a:off x="7360920" y="5138928"/>
            <a:ext cx="4343400" cy="411480"/>
          </a:xfrm>
          <a:prstGeom prst="rect">
            <a:avLst/>
          </a:prstGeom>
          <a:noFill/>
        </p:spPr>
        <p:txBody>
          <a:bodyPr wrap="square" lIns="0" rIns="0" tIns="0" bIns="0">
            <a:spAutoFit/>
          </a:bodyPr>
          <a:lstStyle/>
          <a:p>
            <a:pPr>
              <a:spcAft>
                <a:spcPts val="600"/>
              </a:spcAft>
            </a:pPr>
            <a:r>
              <a:rPr sz="2100" b="0">
                <a:solidFill>
                  <a:srgbClr val="526477"/>
                </a:solidFill>
                <a:latin typeface="Arial"/>
              </a:rPr>
              <a:t>Remaining purchase cancelled</a:t>
            </a:r>
          </a:p>
        </p:txBody>
      </p:sp>
      <p:sp>
        <p:nvSpPr>
          <p:cNvPr id="15" name="TextBox 14"/>
          <p:cNvSpPr txBox="1"/>
          <p:nvPr/>
        </p:nvSpPr>
        <p:spPr>
          <a:xfrm>
            <a:off x="7360920" y="5669280"/>
            <a:ext cx="4343400" cy="411480"/>
          </a:xfrm>
          <a:prstGeom prst="rect">
            <a:avLst/>
          </a:prstGeom>
          <a:noFill/>
        </p:spPr>
        <p:txBody>
          <a:bodyPr wrap="square" lIns="0" rIns="0" tIns="0" bIns="0">
            <a:spAutoFit/>
          </a:bodyPr>
          <a:lstStyle/>
          <a:p>
            <a:pPr>
              <a:spcAft>
                <a:spcPts val="600"/>
              </a:spcAft>
            </a:pPr>
            <a:r>
              <a:rPr sz="2100" b="1">
                <a:solidFill>
                  <a:srgbClr val="007F86"/>
                </a:solidFill>
                <a:latin typeface="Arial"/>
              </a:rPr>
              <a:t>Available cash: CNY 7,500.00</a:t>
            </a:r>
          </a:p>
        </p:txBody>
      </p:sp>
      <p:sp>
        <p:nvSpPr>
          <p:cNvPr id="16" name="TextBox 15"/>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Retained I1 UI · scripted · synthetic data · simulated MFA · unknown results await reconciliation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Review findings become retained regression tests</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12</a:t>
            </a:r>
          </a:p>
        </p:txBody>
      </p:sp>
      <p:pic>
        <p:nvPicPr>
          <p:cNvPr id="6" name="Picture 5" descr="review-rounds-slide.png"/>
          <p:cNvPicPr>
            <a:picLocks noChangeAspect="1"/>
          </p:cNvPicPr>
          <p:nvPr/>
        </p:nvPicPr>
        <p:blipFill>
          <a:blip r:embed="rId2"/>
          <a:stretch>
            <a:fillRect/>
          </a:stretch>
        </p:blipFill>
        <p:spPr>
          <a:xfrm>
            <a:off x="457200" y="1233068"/>
            <a:ext cx="11247120" cy="4986223"/>
          </a:xfrm>
          <a:prstGeom prst="rect">
            <a:avLst/>
          </a:prstGeom>
        </p:spPr>
      </p:pic>
      <p:sp>
        <p:nvSpPr>
          <p:cNvPr id="7" name="TextBox 6"/>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F5 scripted: 2,895 tests passed; uncovered rules: none · AST and import contracts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9144000" cy="694944"/>
          </a:xfrm>
          <a:prstGeom prst="rect">
            <a:avLst/>
          </a:prstGeom>
          <a:noFill/>
        </p:spPr>
        <p:txBody>
          <a:bodyPr wrap="square" lIns="0" rIns="0" tIns="0" bIns="0">
            <a:spAutoFit/>
          </a:bodyPr>
          <a:lstStyle/>
          <a:p>
            <a:pPr>
              <a:spcAft>
                <a:spcPts val="600"/>
              </a:spcAft>
            </a:pPr>
            <a:r>
              <a:rPr sz="2800" b="1">
                <a:solidFill>
                  <a:srgbClr val="FFFFFF"/>
                </a:solidFill>
                <a:latin typeface="Arial"/>
              </a:rPr>
              <a:t>Production needs stronger trust, broader evidence</a:t>
            </a:r>
          </a:p>
        </p:txBody>
      </p:sp>
      <p:sp>
        <p:nvSpPr>
          <p:cNvPr id="3" name="Rectangle 2"/>
          <p:cNvSpPr/>
          <p:nvPr/>
        </p:nvSpPr>
        <p:spPr>
          <a:xfrm>
            <a:off x="9802368" y="73152"/>
            <a:ext cx="2286000" cy="932688"/>
          </a:xfrm>
          <a:prstGeom prst="rect">
            <a:avLst/>
          </a:prstGeom>
          <a:solidFill>
            <a:srgbClr val="080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1240" y="173736"/>
            <a:ext cx="2057400" cy="731520"/>
          </a:xfrm>
          <a:prstGeom prst="rect">
            <a:avLst/>
          </a:prstGeom>
          <a:noFill/>
        </p:spPr>
        <p:txBody>
          <a:bodyPr wrap="square" lIns="0" rIns="0" tIns="0" bIns="0">
            <a:spAutoFit/>
          </a:bodyPr>
          <a:lstStyle/>
          <a:p>
            <a:pPr>
              <a:spcAft>
                <a:spcPts val="600"/>
              </a:spcAft>
            </a:pPr>
            <a:r>
              <a:rPr sz="1400" b="1">
                <a:solidFill>
                  <a:srgbClr val="FFFFFF"/>
                </a:solidFill>
                <a:latin typeface="Arial"/>
              </a:rPr>
              <a:t>FinTechathon 2026</a:t>
            </a:r>
          </a:p>
          <a:p>
            <a:pPr>
              <a:spcAft>
                <a:spcPts val="600"/>
              </a:spcAft>
            </a:pPr>
            <a:r>
              <a:rPr sz="1400" b="1">
                <a:solidFill>
                  <a:srgbClr val="FFFFFF"/>
                </a:solidFill>
                <a:latin typeface="Arial"/>
              </a:rPr>
              <a:t>International AI Track</a:t>
            </a:r>
          </a:p>
        </p:txBody>
      </p:sp>
      <p:sp>
        <p:nvSpPr>
          <p:cNvPr id="5" name="TextBox 4"/>
          <p:cNvSpPr txBox="1"/>
          <p:nvPr/>
        </p:nvSpPr>
        <p:spPr>
          <a:xfrm>
            <a:off x="11247120" y="6473952"/>
            <a:ext cx="438912" cy="228600"/>
          </a:xfrm>
          <a:prstGeom prst="rect">
            <a:avLst/>
          </a:prstGeom>
          <a:noFill/>
        </p:spPr>
        <p:txBody>
          <a:bodyPr wrap="square" lIns="0" rIns="0" tIns="0" bIns="0">
            <a:spAutoFit/>
          </a:bodyPr>
          <a:lstStyle/>
          <a:p>
            <a:pPr>
              <a:spcAft>
                <a:spcPts val="600"/>
              </a:spcAft>
            </a:pPr>
            <a:r>
              <a:rPr sz="1400" b="0">
                <a:solidFill>
                  <a:srgbClr val="526477"/>
                </a:solidFill>
                <a:latin typeface="Arial"/>
              </a:rPr>
              <a:t>13</a:t>
            </a:r>
          </a:p>
        </p:txBody>
      </p:sp>
      <p:sp>
        <p:nvSpPr>
          <p:cNvPr id="6" name="TextBox 5"/>
          <p:cNvSpPr txBox="1"/>
          <p:nvPr/>
        </p:nvSpPr>
        <p:spPr>
          <a:xfrm>
            <a:off x="731520" y="1463040"/>
            <a:ext cx="4937760" cy="548640"/>
          </a:xfrm>
          <a:prstGeom prst="rect">
            <a:avLst/>
          </a:prstGeom>
          <a:noFill/>
        </p:spPr>
        <p:txBody>
          <a:bodyPr wrap="square" lIns="0" rIns="0" tIns="0" bIns="0">
            <a:spAutoFit/>
          </a:bodyPr>
          <a:lstStyle/>
          <a:p>
            <a:pPr>
              <a:spcAft>
                <a:spcPts val="600"/>
              </a:spcAft>
            </a:pPr>
            <a:r>
              <a:rPr sz="2800" b="1">
                <a:solidFill>
                  <a:srgbClr val="102D50"/>
                </a:solidFill>
                <a:latin typeface="Arial"/>
              </a:rPr>
              <a:t>Assumptions</a:t>
            </a:r>
          </a:p>
        </p:txBody>
      </p:sp>
      <p:sp>
        <p:nvSpPr>
          <p:cNvPr id="7" name="TextBox 6"/>
          <p:cNvSpPr txBox="1"/>
          <p:nvPr/>
        </p:nvSpPr>
        <p:spPr>
          <a:xfrm>
            <a:off x="731520" y="2286000"/>
            <a:ext cx="4937760" cy="2103120"/>
          </a:xfrm>
          <a:prstGeom prst="rect">
            <a:avLst/>
          </a:prstGeom>
          <a:noFill/>
        </p:spPr>
        <p:txBody>
          <a:bodyPr wrap="square" lIns="0" rIns="0" tIns="0" bIns="0">
            <a:spAutoFit/>
          </a:bodyPr>
          <a:lstStyle/>
          <a:p>
            <a:pPr>
              <a:spcAft>
                <a:spcPts val="600"/>
              </a:spcAft>
            </a:pPr>
            <a:r>
              <a:rPr sz="2600" b="0">
                <a:solidFill>
                  <a:srgbClr val="526477"/>
                </a:solidFill>
                <a:latin typeface="Arial"/>
              </a:rPr>
              <a:t>Trusted catalogue</a:t>
            </a:r>
          </a:p>
          <a:p>
            <a:pPr>
              <a:spcAft>
                <a:spcPts val="600"/>
              </a:spcAft>
            </a:pPr>
            <a:r>
              <a:rPr sz="2600" b="0">
                <a:solidFill>
                  <a:srgbClr val="526477"/>
                </a:solidFill>
                <a:latin typeface="Arial"/>
              </a:rPr>
              <a:t>Demo keys</a:t>
            </a:r>
          </a:p>
          <a:p>
            <a:pPr>
              <a:spcAft>
                <a:spcPts val="600"/>
              </a:spcAft>
            </a:pPr>
            <a:r>
              <a:rPr sz="2600" b="0">
                <a:solidFill>
                  <a:srgbClr val="526477"/>
                </a:solidFill>
                <a:latin typeface="Arial"/>
              </a:rPr>
              <a:t>Incomplete heuristic</a:t>
            </a:r>
          </a:p>
        </p:txBody>
      </p:sp>
      <p:sp>
        <p:nvSpPr>
          <p:cNvPr id="8" name="TextBox 7"/>
          <p:cNvSpPr txBox="1"/>
          <p:nvPr/>
        </p:nvSpPr>
        <p:spPr>
          <a:xfrm>
            <a:off x="6400800" y="1463040"/>
            <a:ext cx="4754880" cy="548640"/>
          </a:xfrm>
          <a:prstGeom prst="rect">
            <a:avLst/>
          </a:prstGeom>
          <a:noFill/>
        </p:spPr>
        <p:txBody>
          <a:bodyPr wrap="square" lIns="0" rIns="0" tIns="0" bIns="0">
            <a:spAutoFit/>
          </a:bodyPr>
          <a:lstStyle/>
          <a:p>
            <a:pPr>
              <a:spcAft>
                <a:spcPts val="600"/>
              </a:spcAft>
            </a:pPr>
            <a:r>
              <a:rPr sz="2800" b="1">
                <a:solidFill>
                  <a:srgbClr val="007F86"/>
                </a:solidFill>
                <a:latin typeface="Arial"/>
              </a:rPr>
              <a:t>Next</a:t>
            </a:r>
          </a:p>
        </p:txBody>
      </p:sp>
      <p:sp>
        <p:nvSpPr>
          <p:cNvPr id="9" name="TextBox 8"/>
          <p:cNvSpPr txBox="1"/>
          <p:nvPr/>
        </p:nvSpPr>
        <p:spPr>
          <a:xfrm>
            <a:off x="6400800" y="2286000"/>
            <a:ext cx="4846320" cy="2103120"/>
          </a:xfrm>
          <a:prstGeom prst="rect">
            <a:avLst/>
          </a:prstGeom>
          <a:noFill/>
        </p:spPr>
        <p:txBody>
          <a:bodyPr wrap="square" lIns="0" rIns="0" tIns="0" bIns="0">
            <a:spAutoFit/>
          </a:bodyPr>
          <a:lstStyle/>
          <a:p>
            <a:pPr>
              <a:spcAft>
                <a:spcPts val="600"/>
              </a:spcAft>
            </a:pPr>
            <a:r>
              <a:rPr sz="2600" b="0">
                <a:solidFill>
                  <a:srgbClr val="102D50"/>
                </a:solidFill>
                <a:latin typeface="Arial"/>
              </a:rPr>
              <a:t>Protected external keys</a:t>
            </a:r>
          </a:p>
          <a:p>
            <a:pPr>
              <a:spcAft>
                <a:spcPts val="600"/>
              </a:spcAft>
            </a:pPr>
            <a:r>
              <a:rPr sz="2600" b="0">
                <a:solidFill>
                  <a:srgbClr val="102D50"/>
                </a:solidFill>
                <a:latin typeface="Arial"/>
              </a:rPr>
              <a:t>Broader evaluation</a:t>
            </a:r>
          </a:p>
          <a:p>
            <a:pPr>
              <a:spcAft>
                <a:spcPts val="600"/>
              </a:spcAft>
            </a:pPr>
            <a:r>
              <a:rPr sz="2600" b="0">
                <a:solidFill>
                  <a:srgbClr val="102D50"/>
                </a:solidFill>
                <a:latin typeface="Arial"/>
              </a:rPr>
              <a:t>Professional review</a:t>
            </a:r>
          </a:p>
        </p:txBody>
      </p:sp>
      <p:sp>
        <p:nvSpPr>
          <p:cNvPr id="10" name="TextBox 9"/>
          <p:cNvSpPr txBox="1"/>
          <p:nvPr/>
        </p:nvSpPr>
        <p:spPr>
          <a:xfrm>
            <a:off x="731520" y="5175504"/>
            <a:ext cx="10515600" cy="914400"/>
          </a:xfrm>
          <a:prstGeom prst="rect">
            <a:avLst/>
          </a:prstGeom>
          <a:noFill/>
        </p:spPr>
        <p:txBody>
          <a:bodyPr wrap="square" lIns="0" rIns="0" tIns="0" bIns="0">
            <a:spAutoFit/>
          </a:bodyPr>
          <a:lstStyle/>
          <a:p>
            <a:pPr>
              <a:spcAft>
                <a:spcPts val="600"/>
              </a:spcAft>
            </a:pPr>
            <a:r>
              <a:rPr sz="2200" b="1">
                <a:solidFill>
                  <a:srgbClr val="007F86"/>
                </a:solidFill>
                <a:latin typeface="Arial"/>
                <a:hlinkClick r:id="rId2"/>
              </a:rPr>
              <a:t>https://github.com/pzy54154631-hub/Shenzhen-Fintech-international-Project</a:t>
            </a:r>
          </a:p>
        </p:txBody>
      </p:sp>
      <p:sp>
        <p:nvSpPr>
          <p:cNvPr id="11" name="TextBox 10"/>
          <p:cNvSpPr txBox="1"/>
          <p:nvPr/>
        </p:nvSpPr>
        <p:spPr>
          <a:xfrm>
            <a:off x="530352" y="6437376"/>
            <a:ext cx="10607040" cy="274320"/>
          </a:xfrm>
          <a:prstGeom prst="rect">
            <a:avLst/>
          </a:prstGeom>
          <a:noFill/>
        </p:spPr>
        <p:txBody>
          <a:bodyPr wrap="square" lIns="0" rIns="0" tIns="0" bIns="0">
            <a:spAutoFit/>
          </a:bodyPr>
          <a:lstStyle/>
          <a:p>
            <a:pPr>
              <a:spcAft>
                <a:spcPts val="600"/>
              </a:spcAft>
            </a:pPr>
            <a:r>
              <a:rPr sz="1400" b="0">
                <a:solidFill>
                  <a:srgbClr val="526477"/>
                </a:solidFill>
                <a:latin typeface="Arial"/>
              </a:rPr>
              <a:t>Synthetic data · simulated MFA · performance benchmark (not guaranteed) · not investment advice</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28</Words>
  <Application>Microsoft Office PowerPoint</Application>
  <PresentationFormat>宽屏</PresentationFormat>
  <Paragraphs>18</Paragraphs>
  <Slides>4</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HarmonyOS Sans SC Bold</vt:lpstr>
      <vt:lpstr>HarmonyOS Sans SC Medium</vt:lpstr>
      <vt:lpstr>宋体</vt:lpstr>
      <vt:lpstr>Arial</vt:lpstr>
      <vt:lpstr>Calibri</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Corridor Wealth</dc:title>
  <dc:creator>{{TEAM_NAME}}</dc:creator>
  <cp:lastModifiedBy>Corridor</cp:lastModifiedBy>
  <cp:revision>34</cp:revision>
  <dcterms:created xsi:type="dcterms:W3CDTF">2023-10-18T07:50:09Z</dcterms:created>
  <dcterms:modified xsi:type="dcterms:W3CDTF">2025-09-18T13:33:42Z</dcterms:modified>
  <dc:subject>Proof-carrying wealth advice | International AI Track Topic B</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2052-5.5.1.7991</vt:lpwstr>
  </property>
  <property fmtid="{D5CDD505-2E9C-101B-9397-08002B2CF9AE}" pid="3" name="ICV">
    <vt:lpwstr>B24CF714F5C0EBA4C7872F65158432DF_41</vt:lpwstr>
  </property>
</Properties>
</file>